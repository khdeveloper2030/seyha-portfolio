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7" r:id="rId2"/>
    <p:sldId id="351" r:id="rId3"/>
    <p:sldId id="400" r:id="rId4"/>
    <p:sldId id="401" r:id="rId5"/>
    <p:sldId id="412" r:id="rId6"/>
    <p:sldId id="402" r:id="rId7"/>
    <p:sldId id="415" r:id="rId8"/>
    <p:sldId id="399" r:id="rId9"/>
    <p:sldId id="414" r:id="rId10"/>
    <p:sldId id="352" r:id="rId11"/>
    <p:sldId id="416" r:id="rId12"/>
    <p:sldId id="417" r:id="rId13"/>
    <p:sldId id="418" r:id="rId14"/>
    <p:sldId id="403" r:id="rId15"/>
    <p:sldId id="393" r:id="rId16"/>
    <p:sldId id="41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E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/>
    <p:restoredTop sz="93964"/>
  </p:normalViewPr>
  <p:slideViewPr>
    <p:cSldViewPr snapToGrid="0" snapToObjects="1">
      <p:cViewPr varScale="1">
        <p:scale>
          <a:sx n="75" d="100"/>
          <a:sy n="75" d="100"/>
        </p:scale>
        <p:origin x="2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E4EFFA-5307-D34E-95E8-5D7B50765241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0C0E3F-DD6D-464A-9863-47A3B5E22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0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https://www.w3schools.com/</a:t>
            </a:r>
            <a:r>
              <a:rPr lang="en-US" dirty="0" err="1"/>
              <a:t>js</a:t>
            </a:r>
            <a:r>
              <a:rPr lang="en-US" dirty="0"/>
              <a:t>/</a:t>
            </a:r>
            <a:r>
              <a:rPr lang="en-US" dirty="0" err="1"/>
              <a:t>tryit.asp?filename</a:t>
            </a:r>
            <a:r>
              <a:rPr lang="en-US" dirty="0"/>
              <a:t>=</a:t>
            </a:r>
            <a:r>
              <a:rPr lang="en-US" dirty="0" err="1"/>
              <a:t>tryjs_intro_lightbulb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0C0E3F-DD6D-464A-9863-47A3B5E22F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63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0C0E3F-DD6D-464A-9863-47A3B5E22F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562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0C0E3F-DD6D-464A-9863-47A3B5E22F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17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0C0E3F-DD6D-464A-9863-47A3B5E22F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15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0C0E3F-DD6D-464A-9863-47A3B5E22F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603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0C0E3F-DD6D-464A-9863-47A3B5E22F3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1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0C0E3F-DD6D-464A-9863-47A3B5E22F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7942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0C0E3F-DD6D-464A-9863-47A3B5E22F3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26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app.salaitdevelopment.com/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nip Single Corner Rectangle 45">
            <a:extLst>
              <a:ext uri="{FF2B5EF4-FFF2-40B4-BE49-F238E27FC236}">
                <a16:creationId xmlns:a16="http://schemas.microsoft.com/office/drawing/2014/main" id="{EE1A6E72-DF69-9936-4B5F-AC93BB388E1C}"/>
              </a:ext>
            </a:extLst>
          </p:cNvPr>
          <p:cNvSpPr/>
          <p:nvPr userDrawn="1"/>
        </p:nvSpPr>
        <p:spPr>
          <a:xfrm>
            <a:off x="0" y="5008880"/>
            <a:ext cx="12192000" cy="1852507"/>
          </a:xfrm>
          <a:prstGeom prst="snip1Rect">
            <a:avLst>
              <a:gd name="adj" fmla="val 50000"/>
            </a:avLst>
          </a:prstGeom>
          <a:solidFill>
            <a:srgbClr val="006E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0" dirty="0">
                <a:effectLst/>
              </a:rPr>
              <a:t> </a:t>
            </a:r>
            <a:endParaRPr lang="en-US" sz="400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6772484-0ED3-6CF8-76CE-48F05546AAA9}"/>
              </a:ext>
            </a:extLst>
          </p:cNvPr>
          <p:cNvGrpSpPr/>
          <p:nvPr userDrawn="1"/>
        </p:nvGrpSpPr>
        <p:grpSpPr>
          <a:xfrm>
            <a:off x="7046848" y="6172759"/>
            <a:ext cx="7082325" cy="624227"/>
            <a:chOff x="5285136" y="4310323"/>
            <a:chExt cx="5311744" cy="468170"/>
          </a:xfrm>
        </p:grpSpPr>
        <p:sp>
          <p:nvSpPr>
            <p:cNvPr id="8" name="Freeform 39">
              <a:extLst>
                <a:ext uri="{FF2B5EF4-FFF2-40B4-BE49-F238E27FC236}">
                  <a16:creationId xmlns:a16="http://schemas.microsoft.com/office/drawing/2014/main" id="{0BEC4127-EC3B-1641-354B-385A1ED09DE1}"/>
                </a:ext>
              </a:extLst>
            </p:cNvPr>
            <p:cNvSpPr/>
            <p:nvPr userDrawn="1"/>
          </p:nvSpPr>
          <p:spPr>
            <a:xfrm rot="10800000" flipH="1" flipV="1">
              <a:off x="6138862" y="4658911"/>
              <a:ext cx="151425" cy="119582"/>
            </a:xfrm>
            <a:custGeom>
              <a:avLst/>
              <a:gdLst/>
              <a:ahLst/>
              <a:cxnLst/>
              <a:rect l="l" t="t" r="r" b="b"/>
              <a:pathLst>
                <a:path w="98375" h="77688">
                  <a:moveTo>
                    <a:pt x="78134" y="0"/>
                  </a:moveTo>
                  <a:lnTo>
                    <a:pt x="98375" y="11757"/>
                  </a:lnTo>
                  <a:cubicBezTo>
                    <a:pt x="89842" y="25251"/>
                    <a:pt x="85427" y="38943"/>
                    <a:pt x="85129" y="52834"/>
                  </a:cubicBezTo>
                  <a:lnTo>
                    <a:pt x="85129" y="77688"/>
                  </a:lnTo>
                  <a:lnTo>
                    <a:pt x="51048" y="77688"/>
                  </a:lnTo>
                  <a:lnTo>
                    <a:pt x="51048" y="55364"/>
                  </a:lnTo>
                  <a:cubicBezTo>
                    <a:pt x="51048" y="46037"/>
                    <a:pt x="53652" y="36090"/>
                    <a:pt x="58861" y="25524"/>
                  </a:cubicBezTo>
                  <a:cubicBezTo>
                    <a:pt x="64070" y="14957"/>
                    <a:pt x="70494" y="6449"/>
                    <a:pt x="78134" y="0"/>
                  </a:cubicBezTo>
                  <a:close/>
                  <a:moveTo>
                    <a:pt x="27086" y="0"/>
                  </a:moveTo>
                  <a:lnTo>
                    <a:pt x="47327" y="11757"/>
                  </a:lnTo>
                  <a:cubicBezTo>
                    <a:pt x="38794" y="25251"/>
                    <a:pt x="34379" y="38943"/>
                    <a:pt x="34081" y="52834"/>
                  </a:cubicBezTo>
                  <a:lnTo>
                    <a:pt x="34081" y="77688"/>
                  </a:lnTo>
                  <a:lnTo>
                    <a:pt x="0" y="77688"/>
                  </a:lnTo>
                  <a:lnTo>
                    <a:pt x="0" y="55364"/>
                  </a:lnTo>
                  <a:cubicBezTo>
                    <a:pt x="0" y="46037"/>
                    <a:pt x="2604" y="36090"/>
                    <a:pt x="7813" y="25524"/>
                  </a:cubicBezTo>
                  <a:cubicBezTo>
                    <a:pt x="13022" y="14957"/>
                    <a:pt x="19446" y="6449"/>
                    <a:pt x="27086" y="0"/>
                  </a:cubicBez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0A9A897-311C-8A2E-B2C9-D0E71450D5B6}"/>
                </a:ext>
              </a:extLst>
            </p:cNvPr>
            <p:cNvGrpSpPr/>
            <p:nvPr userDrawn="1"/>
          </p:nvGrpSpPr>
          <p:grpSpPr>
            <a:xfrm>
              <a:off x="5285136" y="4310323"/>
              <a:ext cx="5311744" cy="404831"/>
              <a:chOff x="631856" y="3548776"/>
              <a:chExt cx="5311744" cy="404831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8284C36-E4D1-4F7B-AAC5-8F77739A469A}"/>
                  </a:ext>
                </a:extLst>
              </p:cNvPr>
              <p:cNvSpPr/>
              <p:nvPr/>
            </p:nvSpPr>
            <p:spPr>
              <a:xfrm>
                <a:off x="902168" y="3638136"/>
                <a:ext cx="5041432" cy="31547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D" sz="16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UNLOCK YOUR POTENTIAL</a:t>
                </a:r>
              </a:p>
            </p:txBody>
          </p:sp>
          <p:sp>
            <p:nvSpPr>
              <p:cNvPr id="6" name="Freeform 39">
                <a:extLst>
                  <a:ext uri="{FF2B5EF4-FFF2-40B4-BE49-F238E27FC236}">
                    <a16:creationId xmlns:a16="http://schemas.microsoft.com/office/drawing/2014/main" id="{351FD69F-C469-A277-0658-1C819EDC6609}"/>
                  </a:ext>
                </a:extLst>
              </p:cNvPr>
              <p:cNvSpPr/>
              <p:nvPr/>
            </p:nvSpPr>
            <p:spPr>
              <a:xfrm rot="10800000" flipH="1" flipV="1">
                <a:off x="631856" y="3548776"/>
                <a:ext cx="298720" cy="235903"/>
              </a:xfrm>
              <a:custGeom>
                <a:avLst/>
                <a:gdLst/>
                <a:ahLst/>
                <a:cxnLst/>
                <a:rect l="l" t="t" r="r" b="b"/>
                <a:pathLst>
                  <a:path w="98375" h="77688">
                    <a:moveTo>
                      <a:pt x="78134" y="0"/>
                    </a:moveTo>
                    <a:lnTo>
                      <a:pt x="98375" y="11757"/>
                    </a:lnTo>
                    <a:cubicBezTo>
                      <a:pt x="89842" y="25251"/>
                      <a:pt x="85427" y="38943"/>
                      <a:pt x="85129" y="52834"/>
                    </a:cubicBezTo>
                    <a:lnTo>
                      <a:pt x="85129" y="77688"/>
                    </a:lnTo>
                    <a:lnTo>
                      <a:pt x="51048" y="77688"/>
                    </a:lnTo>
                    <a:lnTo>
                      <a:pt x="51048" y="55364"/>
                    </a:lnTo>
                    <a:cubicBezTo>
                      <a:pt x="51048" y="46037"/>
                      <a:pt x="53652" y="36090"/>
                      <a:pt x="58861" y="25524"/>
                    </a:cubicBezTo>
                    <a:cubicBezTo>
                      <a:pt x="64070" y="14957"/>
                      <a:pt x="70494" y="6449"/>
                      <a:pt x="78134" y="0"/>
                    </a:cubicBezTo>
                    <a:close/>
                    <a:moveTo>
                      <a:pt x="27086" y="0"/>
                    </a:moveTo>
                    <a:lnTo>
                      <a:pt x="47327" y="11757"/>
                    </a:lnTo>
                    <a:cubicBezTo>
                      <a:pt x="38794" y="25251"/>
                      <a:pt x="34379" y="38943"/>
                      <a:pt x="34081" y="52834"/>
                    </a:cubicBezTo>
                    <a:lnTo>
                      <a:pt x="34081" y="77688"/>
                    </a:lnTo>
                    <a:lnTo>
                      <a:pt x="0" y="77688"/>
                    </a:lnTo>
                    <a:lnTo>
                      <a:pt x="0" y="55364"/>
                    </a:lnTo>
                    <a:cubicBezTo>
                      <a:pt x="0" y="46037"/>
                      <a:pt x="2604" y="36090"/>
                      <a:pt x="7813" y="25524"/>
                    </a:cubicBezTo>
                    <a:cubicBezTo>
                      <a:pt x="13022" y="14957"/>
                      <a:pt x="19446" y="6449"/>
                      <a:pt x="2708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</p:grp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BD4AFEF-1F5B-884F-B784-9ACC610E16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307" y="129483"/>
            <a:ext cx="1828800" cy="1828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9E3F00-B81A-9B41-B6BC-84A26BBC70A0}"/>
              </a:ext>
            </a:extLst>
          </p:cNvPr>
          <p:cNvSpPr txBox="1"/>
          <p:nvPr userDrawn="1"/>
        </p:nvSpPr>
        <p:spPr>
          <a:xfrm>
            <a:off x="251601" y="5230254"/>
            <a:ext cx="1898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"/>
              </a:rPr>
              <a:t>Contact us:</a:t>
            </a:r>
          </a:p>
        </p:txBody>
      </p:sp>
      <p:pic>
        <p:nvPicPr>
          <p:cNvPr id="9" name="Graphic 8" descr="Earth globe: Americas with solid fill">
            <a:extLst>
              <a:ext uri="{FF2B5EF4-FFF2-40B4-BE49-F238E27FC236}">
                <a16:creationId xmlns:a16="http://schemas.microsoft.com/office/drawing/2014/main" id="{A8E61CC3-4923-3F46-B899-22545B4B35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971" y="6093326"/>
            <a:ext cx="274320" cy="274320"/>
          </a:xfrm>
          <a:prstGeom prst="rect">
            <a:avLst/>
          </a:prstGeom>
        </p:spPr>
      </p:pic>
      <p:pic>
        <p:nvPicPr>
          <p:cNvPr id="12" name="Graphic 11" descr="Receiver with solid fill">
            <a:extLst>
              <a:ext uri="{FF2B5EF4-FFF2-40B4-BE49-F238E27FC236}">
                <a16:creationId xmlns:a16="http://schemas.microsoft.com/office/drawing/2014/main" id="{70089D4B-98F8-184C-9D3D-5726E2CA0C6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1971" y="5663047"/>
            <a:ext cx="274320" cy="2743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4BEFA59-341D-2143-9FE8-154510F763F4}"/>
              </a:ext>
            </a:extLst>
          </p:cNvPr>
          <p:cNvSpPr txBox="1"/>
          <p:nvPr userDrawn="1"/>
        </p:nvSpPr>
        <p:spPr>
          <a:xfrm>
            <a:off x="625690" y="5683789"/>
            <a:ext cx="1898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"/>
              </a:rPr>
              <a:t>011 504 463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9251C8-1DA8-3F47-A00B-566CC72C4D7D}"/>
              </a:ext>
            </a:extLst>
          </p:cNvPr>
          <p:cNvSpPr txBox="1"/>
          <p:nvPr userDrawn="1"/>
        </p:nvSpPr>
        <p:spPr>
          <a:xfrm>
            <a:off x="606291" y="6064500"/>
            <a:ext cx="4617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bg1"/>
                </a:solidFill>
                <a:latin typeface="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app.salaitdevelopment.com</a:t>
            </a:r>
            <a:endParaRPr lang="en-US" sz="1400" u="sng" dirty="0">
              <a:solidFill>
                <a:schemeClr val="bg1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022992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01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339F32B-FA24-03B9-DAC0-D994ED2679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DDBC540-E41E-72E4-E2D2-17EBB6A6C00C}"/>
              </a:ext>
            </a:extLst>
          </p:cNvPr>
          <p:cNvGrpSpPr/>
          <p:nvPr userDrawn="1"/>
        </p:nvGrpSpPr>
        <p:grpSpPr>
          <a:xfrm>
            <a:off x="-39209" y="6312920"/>
            <a:ext cx="12689647" cy="515789"/>
            <a:chOff x="-29407" y="4724530"/>
            <a:chExt cx="9517235" cy="386842"/>
          </a:xfrm>
        </p:grpSpPr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EC17D452-255F-2D4F-E136-032E261B30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9407" y="4724530"/>
              <a:ext cx="4743914" cy="386842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4C03FF98-DF31-EFC5-E206-664F433C12F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43914" y="4724530"/>
              <a:ext cx="4743914" cy="386842"/>
            </a:xfrm>
            <a:prstGeom prst="rect">
              <a:avLst/>
            </a:prstGeom>
          </p:spPr>
        </p:pic>
      </p:grp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4DD8F2D-F5BB-AE88-C31A-36B2E7B46732}"/>
              </a:ext>
            </a:extLst>
          </p:cNvPr>
          <p:cNvSpPr/>
          <p:nvPr userDrawn="1"/>
        </p:nvSpPr>
        <p:spPr>
          <a:xfrm>
            <a:off x="317888" y="6303356"/>
            <a:ext cx="693651" cy="33357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383FF56-2E67-4C85-F4AE-939E87DCFA76}"/>
              </a:ext>
            </a:extLst>
          </p:cNvPr>
          <p:cNvGrpSpPr/>
          <p:nvPr userDrawn="1"/>
        </p:nvGrpSpPr>
        <p:grpSpPr>
          <a:xfrm>
            <a:off x="7046848" y="6172759"/>
            <a:ext cx="7082325" cy="624227"/>
            <a:chOff x="5285136" y="4310323"/>
            <a:chExt cx="5311744" cy="468170"/>
          </a:xfrm>
        </p:grpSpPr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E719884A-0563-31E8-54B2-798D18A386B3}"/>
                </a:ext>
              </a:extLst>
            </p:cNvPr>
            <p:cNvSpPr/>
            <p:nvPr userDrawn="1"/>
          </p:nvSpPr>
          <p:spPr>
            <a:xfrm rot="10800000" flipH="1" flipV="1">
              <a:off x="6138862" y="4658911"/>
              <a:ext cx="151425" cy="119582"/>
            </a:xfrm>
            <a:custGeom>
              <a:avLst/>
              <a:gdLst/>
              <a:ahLst/>
              <a:cxnLst/>
              <a:rect l="l" t="t" r="r" b="b"/>
              <a:pathLst>
                <a:path w="98375" h="77688">
                  <a:moveTo>
                    <a:pt x="78134" y="0"/>
                  </a:moveTo>
                  <a:lnTo>
                    <a:pt x="98375" y="11757"/>
                  </a:lnTo>
                  <a:cubicBezTo>
                    <a:pt x="89842" y="25251"/>
                    <a:pt x="85427" y="38943"/>
                    <a:pt x="85129" y="52834"/>
                  </a:cubicBezTo>
                  <a:lnTo>
                    <a:pt x="85129" y="77688"/>
                  </a:lnTo>
                  <a:lnTo>
                    <a:pt x="51048" y="77688"/>
                  </a:lnTo>
                  <a:lnTo>
                    <a:pt x="51048" y="55364"/>
                  </a:lnTo>
                  <a:cubicBezTo>
                    <a:pt x="51048" y="46037"/>
                    <a:pt x="53652" y="36090"/>
                    <a:pt x="58861" y="25524"/>
                  </a:cubicBezTo>
                  <a:cubicBezTo>
                    <a:pt x="64070" y="14957"/>
                    <a:pt x="70494" y="6449"/>
                    <a:pt x="78134" y="0"/>
                  </a:cubicBezTo>
                  <a:close/>
                  <a:moveTo>
                    <a:pt x="27086" y="0"/>
                  </a:moveTo>
                  <a:lnTo>
                    <a:pt x="47327" y="11757"/>
                  </a:lnTo>
                  <a:cubicBezTo>
                    <a:pt x="38794" y="25251"/>
                    <a:pt x="34379" y="38943"/>
                    <a:pt x="34081" y="52834"/>
                  </a:cubicBezTo>
                  <a:lnTo>
                    <a:pt x="34081" y="77688"/>
                  </a:lnTo>
                  <a:lnTo>
                    <a:pt x="0" y="77688"/>
                  </a:lnTo>
                  <a:lnTo>
                    <a:pt x="0" y="55364"/>
                  </a:lnTo>
                  <a:cubicBezTo>
                    <a:pt x="0" y="46037"/>
                    <a:pt x="2604" y="36090"/>
                    <a:pt x="7813" y="25524"/>
                  </a:cubicBezTo>
                  <a:cubicBezTo>
                    <a:pt x="13022" y="14957"/>
                    <a:pt x="19446" y="6449"/>
                    <a:pt x="27086" y="0"/>
                  </a:cubicBez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CEFFDDC-8FB3-4C51-2765-0203337A6E07}"/>
                </a:ext>
              </a:extLst>
            </p:cNvPr>
            <p:cNvGrpSpPr/>
            <p:nvPr userDrawn="1"/>
          </p:nvGrpSpPr>
          <p:grpSpPr>
            <a:xfrm>
              <a:off x="5285136" y="4310323"/>
              <a:ext cx="5311744" cy="404831"/>
              <a:chOff x="631856" y="3548776"/>
              <a:chExt cx="5311744" cy="404831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CF68C89C-F478-8C0A-B310-6C8A0E09293C}"/>
                  </a:ext>
                </a:extLst>
              </p:cNvPr>
              <p:cNvSpPr/>
              <p:nvPr/>
            </p:nvSpPr>
            <p:spPr>
              <a:xfrm>
                <a:off x="902168" y="3638136"/>
                <a:ext cx="5041432" cy="31547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D" sz="16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UNLOCK YOUR POTENTIAL</a:t>
                </a:r>
              </a:p>
            </p:txBody>
          </p:sp>
          <p:sp>
            <p:nvSpPr>
              <p:cNvPr id="48" name="Freeform 39">
                <a:extLst>
                  <a:ext uri="{FF2B5EF4-FFF2-40B4-BE49-F238E27FC236}">
                    <a16:creationId xmlns:a16="http://schemas.microsoft.com/office/drawing/2014/main" id="{4AABAAF1-C15F-40FF-3799-BF7043C1EE5A}"/>
                  </a:ext>
                </a:extLst>
              </p:cNvPr>
              <p:cNvSpPr/>
              <p:nvPr/>
            </p:nvSpPr>
            <p:spPr>
              <a:xfrm rot="10800000" flipH="1" flipV="1">
                <a:off x="631856" y="3548776"/>
                <a:ext cx="298720" cy="235903"/>
              </a:xfrm>
              <a:custGeom>
                <a:avLst/>
                <a:gdLst/>
                <a:ahLst/>
                <a:cxnLst/>
                <a:rect l="l" t="t" r="r" b="b"/>
                <a:pathLst>
                  <a:path w="98375" h="77688">
                    <a:moveTo>
                      <a:pt x="78134" y="0"/>
                    </a:moveTo>
                    <a:lnTo>
                      <a:pt x="98375" y="11757"/>
                    </a:lnTo>
                    <a:cubicBezTo>
                      <a:pt x="89842" y="25251"/>
                      <a:pt x="85427" y="38943"/>
                      <a:pt x="85129" y="52834"/>
                    </a:cubicBezTo>
                    <a:lnTo>
                      <a:pt x="85129" y="77688"/>
                    </a:lnTo>
                    <a:lnTo>
                      <a:pt x="51048" y="77688"/>
                    </a:lnTo>
                    <a:lnTo>
                      <a:pt x="51048" y="55364"/>
                    </a:lnTo>
                    <a:cubicBezTo>
                      <a:pt x="51048" y="46037"/>
                      <a:pt x="53652" y="36090"/>
                      <a:pt x="58861" y="25524"/>
                    </a:cubicBezTo>
                    <a:cubicBezTo>
                      <a:pt x="64070" y="14957"/>
                      <a:pt x="70494" y="6449"/>
                      <a:pt x="78134" y="0"/>
                    </a:cubicBezTo>
                    <a:close/>
                    <a:moveTo>
                      <a:pt x="27086" y="0"/>
                    </a:moveTo>
                    <a:lnTo>
                      <a:pt x="47327" y="11757"/>
                    </a:lnTo>
                    <a:cubicBezTo>
                      <a:pt x="38794" y="25251"/>
                      <a:pt x="34379" y="38943"/>
                      <a:pt x="34081" y="52834"/>
                    </a:cubicBezTo>
                    <a:lnTo>
                      <a:pt x="34081" y="77688"/>
                    </a:lnTo>
                    <a:lnTo>
                      <a:pt x="0" y="77688"/>
                    </a:lnTo>
                    <a:lnTo>
                      <a:pt x="0" y="55364"/>
                    </a:lnTo>
                    <a:cubicBezTo>
                      <a:pt x="0" y="46037"/>
                      <a:pt x="2604" y="36090"/>
                      <a:pt x="7813" y="25524"/>
                    </a:cubicBezTo>
                    <a:cubicBezTo>
                      <a:pt x="13022" y="14957"/>
                      <a:pt x="19446" y="6449"/>
                      <a:pt x="2708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</p:grp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D7C6C6BE-99A3-D24A-BF88-988270FC28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10200" y="177733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498802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">
            <a:extLst>
              <a:ext uri="{FF2B5EF4-FFF2-40B4-BE49-F238E27FC236}">
                <a16:creationId xmlns:a16="http://schemas.microsoft.com/office/drawing/2014/main" id="{941CAF20-EE72-A778-4B44-B1757F8CBB64}"/>
              </a:ext>
            </a:extLst>
          </p:cNvPr>
          <p:cNvSpPr/>
          <p:nvPr userDrawn="1"/>
        </p:nvSpPr>
        <p:spPr>
          <a:xfrm flipH="1" flipV="1">
            <a:off x="-6" y="-5"/>
            <a:ext cx="3747063" cy="1290324"/>
          </a:xfrm>
          <a:custGeom>
            <a:avLst/>
            <a:gdLst>
              <a:gd name="connsiteX0" fmla="*/ 1200000 w 3176352"/>
              <a:gd name="connsiteY0" fmla="*/ 0 h 1200000"/>
              <a:gd name="connsiteX1" fmla="*/ 1332327 w 3176352"/>
              <a:gd name="connsiteY1" fmla="*/ 0 h 1200000"/>
              <a:gd name="connsiteX2" fmla="*/ 3176352 w 3176352"/>
              <a:gd name="connsiteY2" fmla="*/ 0 h 1200000"/>
              <a:gd name="connsiteX3" fmla="*/ 3176352 w 3176352"/>
              <a:gd name="connsiteY3" fmla="*/ 1200000 h 1200000"/>
              <a:gd name="connsiteX4" fmla="*/ 0 w 3176352"/>
              <a:gd name="connsiteY4" fmla="*/ 1200000 h 12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76352" h="1200000">
                <a:moveTo>
                  <a:pt x="1200000" y="0"/>
                </a:moveTo>
                <a:lnTo>
                  <a:pt x="1332327" y="0"/>
                </a:lnTo>
                <a:lnTo>
                  <a:pt x="3176352" y="0"/>
                </a:lnTo>
                <a:lnTo>
                  <a:pt x="3176352" y="1200000"/>
                </a:lnTo>
                <a:lnTo>
                  <a:pt x="0" y="1200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36A8669-B186-8FF7-E3DE-94923EEC49A8}"/>
              </a:ext>
            </a:extLst>
          </p:cNvPr>
          <p:cNvGrpSpPr/>
          <p:nvPr userDrawn="1"/>
        </p:nvGrpSpPr>
        <p:grpSpPr>
          <a:xfrm>
            <a:off x="1" y="-9779"/>
            <a:ext cx="12211607" cy="1169323"/>
            <a:chOff x="0" y="133601"/>
            <a:chExt cx="9158705" cy="876992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925A801B-4068-F473-F6FA-B4689D3BA85E}"/>
                </a:ext>
              </a:extLst>
            </p:cNvPr>
            <p:cNvSpPr/>
            <p:nvPr userDrawn="1"/>
          </p:nvSpPr>
          <p:spPr>
            <a:xfrm>
              <a:off x="0" y="133601"/>
              <a:ext cx="6545649" cy="876992"/>
            </a:xfrm>
            <a:custGeom>
              <a:avLst/>
              <a:gdLst>
                <a:gd name="connsiteX0" fmla="*/ 0 w 9005306"/>
                <a:gd name="connsiteY0" fmla="*/ 0 h 1206539"/>
                <a:gd name="connsiteX1" fmla="*/ 9005306 w 9005306"/>
                <a:gd name="connsiteY1" fmla="*/ 0 h 1206539"/>
                <a:gd name="connsiteX2" fmla="*/ 7798768 w 9005306"/>
                <a:gd name="connsiteY2" fmla="*/ 1206539 h 1206539"/>
                <a:gd name="connsiteX3" fmla="*/ 0 w 9005306"/>
                <a:gd name="connsiteY3" fmla="*/ 1206539 h 1206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05306" h="1206539">
                  <a:moveTo>
                    <a:pt x="0" y="0"/>
                  </a:moveTo>
                  <a:lnTo>
                    <a:pt x="9005306" y="0"/>
                  </a:lnTo>
                  <a:lnTo>
                    <a:pt x="7798768" y="1206539"/>
                  </a:lnTo>
                  <a:lnTo>
                    <a:pt x="0" y="1206539"/>
                  </a:ln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6E659EA-39FC-42A2-CA72-7F84036AB274}"/>
                </a:ext>
              </a:extLst>
            </p:cNvPr>
            <p:cNvSpPr/>
            <p:nvPr userDrawn="1"/>
          </p:nvSpPr>
          <p:spPr>
            <a:xfrm>
              <a:off x="6545648" y="133601"/>
              <a:ext cx="2613057" cy="872239"/>
            </a:xfrm>
            <a:custGeom>
              <a:avLst/>
              <a:gdLst>
                <a:gd name="connsiteX0" fmla="*/ 0 w 3735355"/>
                <a:gd name="connsiteY0" fmla="*/ 872239 h 872239"/>
                <a:gd name="connsiteX1" fmla="*/ 878458 w 3735355"/>
                <a:gd name="connsiteY1" fmla="*/ 0 h 872239"/>
                <a:gd name="connsiteX2" fmla="*/ 3735355 w 3735355"/>
                <a:gd name="connsiteY2" fmla="*/ 0 h 872239"/>
                <a:gd name="connsiteX3" fmla="*/ 2856897 w 3735355"/>
                <a:gd name="connsiteY3" fmla="*/ 872239 h 872239"/>
                <a:gd name="connsiteX4" fmla="*/ 0 w 3735355"/>
                <a:gd name="connsiteY4" fmla="*/ 872239 h 872239"/>
                <a:gd name="connsiteX0" fmla="*/ 0 w 2856897"/>
                <a:gd name="connsiteY0" fmla="*/ 872239 h 872239"/>
                <a:gd name="connsiteX1" fmla="*/ 878458 w 2856897"/>
                <a:gd name="connsiteY1" fmla="*/ 0 h 872239"/>
                <a:gd name="connsiteX2" fmla="*/ 2597435 w 2856897"/>
                <a:gd name="connsiteY2" fmla="*/ 30480 h 872239"/>
                <a:gd name="connsiteX3" fmla="*/ 2856897 w 2856897"/>
                <a:gd name="connsiteY3" fmla="*/ 872239 h 872239"/>
                <a:gd name="connsiteX4" fmla="*/ 0 w 2856897"/>
                <a:gd name="connsiteY4" fmla="*/ 872239 h 872239"/>
                <a:gd name="connsiteX0" fmla="*/ 0 w 2613057"/>
                <a:gd name="connsiteY0" fmla="*/ 872239 h 872239"/>
                <a:gd name="connsiteX1" fmla="*/ 878458 w 2613057"/>
                <a:gd name="connsiteY1" fmla="*/ 0 h 872239"/>
                <a:gd name="connsiteX2" fmla="*/ 2597435 w 2613057"/>
                <a:gd name="connsiteY2" fmla="*/ 30480 h 872239"/>
                <a:gd name="connsiteX3" fmla="*/ 2613057 w 2613057"/>
                <a:gd name="connsiteY3" fmla="*/ 862079 h 872239"/>
                <a:gd name="connsiteX4" fmla="*/ 0 w 2613057"/>
                <a:gd name="connsiteY4" fmla="*/ 872239 h 872239"/>
                <a:gd name="connsiteX0" fmla="*/ 0 w 2617755"/>
                <a:gd name="connsiteY0" fmla="*/ 872239 h 872239"/>
                <a:gd name="connsiteX1" fmla="*/ 878458 w 2617755"/>
                <a:gd name="connsiteY1" fmla="*/ 0 h 872239"/>
                <a:gd name="connsiteX2" fmla="*/ 2617755 w 2617755"/>
                <a:gd name="connsiteY2" fmla="*/ 20320 h 872239"/>
                <a:gd name="connsiteX3" fmla="*/ 2613057 w 2617755"/>
                <a:gd name="connsiteY3" fmla="*/ 862079 h 872239"/>
                <a:gd name="connsiteX4" fmla="*/ 0 w 2617755"/>
                <a:gd name="connsiteY4" fmla="*/ 872239 h 872239"/>
                <a:gd name="connsiteX0" fmla="*/ 0 w 2613057"/>
                <a:gd name="connsiteY0" fmla="*/ 872239 h 872239"/>
                <a:gd name="connsiteX1" fmla="*/ 878458 w 2613057"/>
                <a:gd name="connsiteY1" fmla="*/ 0 h 872239"/>
                <a:gd name="connsiteX2" fmla="*/ 2607595 w 2613057"/>
                <a:gd name="connsiteY2" fmla="*/ 0 h 872239"/>
                <a:gd name="connsiteX3" fmla="*/ 2613057 w 2613057"/>
                <a:gd name="connsiteY3" fmla="*/ 862079 h 872239"/>
                <a:gd name="connsiteX4" fmla="*/ 0 w 2613057"/>
                <a:gd name="connsiteY4" fmla="*/ 872239 h 87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3057" h="872239">
                  <a:moveTo>
                    <a:pt x="0" y="872239"/>
                  </a:moveTo>
                  <a:lnTo>
                    <a:pt x="878458" y="0"/>
                  </a:lnTo>
                  <a:lnTo>
                    <a:pt x="2607595" y="0"/>
                  </a:lnTo>
                  <a:cubicBezTo>
                    <a:pt x="2609416" y="287360"/>
                    <a:pt x="2611236" y="574719"/>
                    <a:pt x="2613057" y="862079"/>
                  </a:cubicBezTo>
                  <a:lnTo>
                    <a:pt x="0" y="872239"/>
                  </a:ln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7DE05EC-2409-5C35-8B20-53DE5AD13B35}"/>
              </a:ext>
            </a:extLst>
          </p:cNvPr>
          <p:cNvGrpSpPr/>
          <p:nvPr userDrawn="1"/>
        </p:nvGrpSpPr>
        <p:grpSpPr>
          <a:xfrm>
            <a:off x="389890" y="6132074"/>
            <a:ext cx="11412221" cy="602803"/>
            <a:chOff x="292417" y="4599053"/>
            <a:chExt cx="8559166" cy="45210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1FEBE89-CFE5-65B3-650A-D5B1B3AB2D3D}"/>
                </a:ext>
              </a:extLst>
            </p:cNvPr>
            <p:cNvGrpSpPr/>
            <p:nvPr userDrawn="1"/>
          </p:nvGrpSpPr>
          <p:grpSpPr>
            <a:xfrm>
              <a:off x="292417" y="4599053"/>
              <a:ext cx="8559166" cy="250180"/>
              <a:chOff x="292417" y="4491948"/>
              <a:chExt cx="8559166" cy="250180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A03D3430-8763-6DE6-63D3-547F54271AB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2417" y="4598203"/>
                <a:ext cx="8393344" cy="18835"/>
              </a:xfrm>
              <a:prstGeom prst="line">
                <a:avLst/>
              </a:prstGeom>
              <a:ln>
                <a:solidFill>
                  <a:srgbClr val="006EB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FAD3C87E-882C-3B9F-F67B-72A6FA773CDB}"/>
                  </a:ext>
                </a:extLst>
              </p:cNvPr>
              <p:cNvSpPr/>
              <p:nvPr userDrawn="1"/>
            </p:nvSpPr>
            <p:spPr>
              <a:xfrm>
                <a:off x="8331345" y="4491948"/>
                <a:ext cx="520238" cy="250180"/>
              </a:xfrm>
              <a:prstGeom prst="roundRect">
                <a:avLst/>
              </a:prstGeom>
              <a:solidFill>
                <a:srgbClr val="006EB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4F5A7B5-A3AE-6297-88EB-934C28E43CBE}"/>
                </a:ext>
              </a:extLst>
            </p:cNvPr>
            <p:cNvGrpSpPr/>
            <p:nvPr userDrawn="1"/>
          </p:nvGrpSpPr>
          <p:grpSpPr>
            <a:xfrm>
              <a:off x="292417" y="4735684"/>
              <a:ext cx="5208078" cy="315471"/>
              <a:chOff x="648318" y="3617335"/>
              <a:chExt cx="5208078" cy="31547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8174C11-C320-0E58-A507-F4C5337EA663}"/>
                  </a:ext>
                </a:extLst>
              </p:cNvPr>
              <p:cNvSpPr/>
              <p:nvPr/>
            </p:nvSpPr>
            <p:spPr>
              <a:xfrm>
                <a:off x="814964" y="3617335"/>
                <a:ext cx="5041432" cy="31547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D" sz="1600" b="1" dirty="0">
                    <a:solidFill>
                      <a:srgbClr val="006EB4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UNLOCK YOUR POTENTIAL</a:t>
                </a:r>
              </a:p>
            </p:txBody>
          </p:sp>
          <p:sp>
            <p:nvSpPr>
              <p:cNvPr id="7" name="Freeform 39">
                <a:extLst>
                  <a:ext uri="{FF2B5EF4-FFF2-40B4-BE49-F238E27FC236}">
                    <a16:creationId xmlns:a16="http://schemas.microsoft.com/office/drawing/2014/main" id="{97F964A0-0112-F128-2286-F470F03DF869}"/>
                  </a:ext>
                </a:extLst>
              </p:cNvPr>
              <p:cNvSpPr/>
              <p:nvPr/>
            </p:nvSpPr>
            <p:spPr>
              <a:xfrm rot="10800000" flipH="1" flipV="1">
                <a:off x="648318" y="3661461"/>
                <a:ext cx="192481" cy="152005"/>
              </a:xfrm>
              <a:custGeom>
                <a:avLst/>
                <a:gdLst/>
                <a:ahLst/>
                <a:cxnLst/>
                <a:rect l="l" t="t" r="r" b="b"/>
                <a:pathLst>
                  <a:path w="98375" h="77688">
                    <a:moveTo>
                      <a:pt x="78134" y="0"/>
                    </a:moveTo>
                    <a:lnTo>
                      <a:pt x="98375" y="11757"/>
                    </a:lnTo>
                    <a:cubicBezTo>
                      <a:pt x="89842" y="25251"/>
                      <a:pt x="85427" y="38943"/>
                      <a:pt x="85129" y="52834"/>
                    </a:cubicBezTo>
                    <a:lnTo>
                      <a:pt x="85129" y="77688"/>
                    </a:lnTo>
                    <a:lnTo>
                      <a:pt x="51048" y="77688"/>
                    </a:lnTo>
                    <a:lnTo>
                      <a:pt x="51048" y="55364"/>
                    </a:lnTo>
                    <a:cubicBezTo>
                      <a:pt x="51048" y="46037"/>
                      <a:pt x="53652" y="36090"/>
                      <a:pt x="58861" y="25524"/>
                    </a:cubicBezTo>
                    <a:cubicBezTo>
                      <a:pt x="64070" y="14957"/>
                      <a:pt x="70494" y="6449"/>
                      <a:pt x="78134" y="0"/>
                    </a:cubicBezTo>
                    <a:close/>
                    <a:moveTo>
                      <a:pt x="27086" y="0"/>
                    </a:moveTo>
                    <a:lnTo>
                      <a:pt x="47327" y="11757"/>
                    </a:lnTo>
                    <a:cubicBezTo>
                      <a:pt x="38794" y="25251"/>
                      <a:pt x="34379" y="38943"/>
                      <a:pt x="34081" y="52834"/>
                    </a:cubicBezTo>
                    <a:lnTo>
                      <a:pt x="34081" y="77688"/>
                    </a:lnTo>
                    <a:lnTo>
                      <a:pt x="0" y="77688"/>
                    </a:lnTo>
                    <a:lnTo>
                      <a:pt x="0" y="55364"/>
                    </a:lnTo>
                    <a:cubicBezTo>
                      <a:pt x="0" y="46037"/>
                      <a:pt x="2604" y="36090"/>
                      <a:pt x="7813" y="25524"/>
                    </a:cubicBezTo>
                    <a:cubicBezTo>
                      <a:pt x="13022" y="14957"/>
                      <a:pt x="19446" y="6449"/>
                      <a:pt x="27086" y="0"/>
                    </a:cubicBezTo>
                    <a:close/>
                  </a:path>
                </a:pathLst>
              </a:custGeom>
              <a:solidFill>
                <a:srgbClr val="006E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</p:grp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116A24CD-A0C0-0D46-940D-A4F8F83AB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54147" y="10499"/>
            <a:ext cx="1097280" cy="10972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75AB2A-6311-D740-8059-778CA8B1268C}"/>
              </a:ext>
            </a:extLst>
          </p:cNvPr>
          <p:cNvSpPr txBox="1"/>
          <p:nvPr userDrawn="1"/>
        </p:nvSpPr>
        <p:spPr>
          <a:xfrm>
            <a:off x="8737600" y="9869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9" name="Freeform 4">
            <a:extLst>
              <a:ext uri="{FF2B5EF4-FFF2-40B4-BE49-F238E27FC236}">
                <a16:creationId xmlns:a16="http://schemas.microsoft.com/office/drawing/2014/main" id="{1B580907-4F56-5448-A07A-C77C50C473B0}"/>
              </a:ext>
            </a:extLst>
          </p:cNvPr>
          <p:cNvSpPr/>
          <p:nvPr userDrawn="1"/>
        </p:nvSpPr>
        <p:spPr>
          <a:xfrm>
            <a:off x="7794382" y="2314"/>
            <a:ext cx="1783459" cy="1169323"/>
          </a:xfrm>
          <a:custGeom>
            <a:avLst/>
            <a:gdLst>
              <a:gd name="connsiteX0" fmla="*/ 1206539 w 1840221"/>
              <a:gd name="connsiteY0" fmla="*/ 0 h 1206539"/>
              <a:gd name="connsiteX1" fmla="*/ 1840221 w 1840221"/>
              <a:gd name="connsiteY1" fmla="*/ 0 h 1206539"/>
              <a:gd name="connsiteX2" fmla="*/ 633682 w 1840221"/>
              <a:gd name="connsiteY2" fmla="*/ 1206539 h 1206539"/>
              <a:gd name="connsiteX3" fmla="*/ 0 w 1840221"/>
              <a:gd name="connsiteY3" fmla="*/ 1206539 h 120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221" h="1206539">
                <a:moveTo>
                  <a:pt x="1206539" y="0"/>
                </a:moveTo>
                <a:lnTo>
                  <a:pt x="1840221" y="0"/>
                </a:lnTo>
                <a:lnTo>
                  <a:pt x="633682" y="1206539"/>
                </a:lnTo>
                <a:lnTo>
                  <a:pt x="0" y="1206539"/>
                </a:lnTo>
                <a:close/>
              </a:path>
            </a:pathLst>
          </a:custGeom>
          <a:solidFill>
            <a:srgbClr val="006E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15674908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1_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nip Single Corner Rectangle 45">
            <a:extLst>
              <a:ext uri="{FF2B5EF4-FFF2-40B4-BE49-F238E27FC236}">
                <a16:creationId xmlns:a16="http://schemas.microsoft.com/office/drawing/2014/main" id="{186FA5EC-735A-D293-DEA3-9522622AC00A}"/>
              </a:ext>
            </a:extLst>
          </p:cNvPr>
          <p:cNvSpPr/>
          <p:nvPr userDrawn="1"/>
        </p:nvSpPr>
        <p:spPr>
          <a:xfrm>
            <a:off x="0" y="5008880"/>
            <a:ext cx="12192000" cy="1852507"/>
          </a:xfrm>
          <a:prstGeom prst="snip1Rect">
            <a:avLst>
              <a:gd name="adj" fmla="val 50000"/>
            </a:avLst>
          </a:prstGeom>
          <a:solidFill>
            <a:srgbClr val="006E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00"/>
          </a:p>
        </p:txBody>
      </p:sp>
      <p:sp>
        <p:nvSpPr>
          <p:cNvPr id="18" name="Google Shape;18;p3"/>
          <p:cNvSpPr txBox="1"/>
          <p:nvPr/>
        </p:nvSpPr>
        <p:spPr>
          <a:xfrm>
            <a:off x="2673879" y="2030923"/>
            <a:ext cx="7067760" cy="17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YOU!</a:t>
            </a:r>
            <a:endParaRPr sz="6400" b="1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C2782A8-4B15-526E-8872-A7D0AD8CDCE3}"/>
              </a:ext>
            </a:extLst>
          </p:cNvPr>
          <p:cNvGrpSpPr/>
          <p:nvPr userDrawn="1"/>
        </p:nvGrpSpPr>
        <p:grpSpPr>
          <a:xfrm>
            <a:off x="7046848" y="6172759"/>
            <a:ext cx="7082325" cy="624227"/>
            <a:chOff x="5285136" y="4310323"/>
            <a:chExt cx="5311744" cy="468170"/>
          </a:xfrm>
        </p:grpSpPr>
        <p:sp>
          <p:nvSpPr>
            <p:cNvPr id="14" name="Freeform 39">
              <a:extLst>
                <a:ext uri="{FF2B5EF4-FFF2-40B4-BE49-F238E27FC236}">
                  <a16:creationId xmlns:a16="http://schemas.microsoft.com/office/drawing/2014/main" id="{5D55375A-9693-86C7-5679-E8346D72DCE3}"/>
                </a:ext>
              </a:extLst>
            </p:cNvPr>
            <p:cNvSpPr/>
            <p:nvPr userDrawn="1"/>
          </p:nvSpPr>
          <p:spPr>
            <a:xfrm rot="10800000" flipH="1" flipV="1">
              <a:off x="6138862" y="4658911"/>
              <a:ext cx="151425" cy="119582"/>
            </a:xfrm>
            <a:custGeom>
              <a:avLst/>
              <a:gdLst/>
              <a:ahLst/>
              <a:cxnLst/>
              <a:rect l="l" t="t" r="r" b="b"/>
              <a:pathLst>
                <a:path w="98375" h="77688">
                  <a:moveTo>
                    <a:pt x="78134" y="0"/>
                  </a:moveTo>
                  <a:lnTo>
                    <a:pt x="98375" y="11757"/>
                  </a:lnTo>
                  <a:cubicBezTo>
                    <a:pt x="89842" y="25251"/>
                    <a:pt x="85427" y="38943"/>
                    <a:pt x="85129" y="52834"/>
                  </a:cubicBezTo>
                  <a:lnTo>
                    <a:pt x="85129" y="77688"/>
                  </a:lnTo>
                  <a:lnTo>
                    <a:pt x="51048" y="77688"/>
                  </a:lnTo>
                  <a:lnTo>
                    <a:pt x="51048" y="55364"/>
                  </a:lnTo>
                  <a:cubicBezTo>
                    <a:pt x="51048" y="46037"/>
                    <a:pt x="53652" y="36090"/>
                    <a:pt x="58861" y="25524"/>
                  </a:cubicBezTo>
                  <a:cubicBezTo>
                    <a:pt x="64070" y="14957"/>
                    <a:pt x="70494" y="6449"/>
                    <a:pt x="78134" y="0"/>
                  </a:cubicBezTo>
                  <a:close/>
                  <a:moveTo>
                    <a:pt x="27086" y="0"/>
                  </a:moveTo>
                  <a:lnTo>
                    <a:pt x="47327" y="11757"/>
                  </a:lnTo>
                  <a:cubicBezTo>
                    <a:pt x="38794" y="25251"/>
                    <a:pt x="34379" y="38943"/>
                    <a:pt x="34081" y="52834"/>
                  </a:cubicBezTo>
                  <a:lnTo>
                    <a:pt x="34081" y="77688"/>
                  </a:lnTo>
                  <a:lnTo>
                    <a:pt x="0" y="77688"/>
                  </a:lnTo>
                  <a:lnTo>
                    <a:pt x="0" y="55364"/>
                  </a:lnTo>
                  <a:cubicBezTo>
                    <a:pt x="0" y="46037"/>
                    <a:pt x="2604" y="36090"/>
                    <a:pt x="7813" y="25524"/>
                  </a:cubicBezTo>
                  <a:cubicBezTo>
                    <a:pt x="13022" y="14957"/>
                    <a:pt x="19446" y="6449"/>
                    <a:pt x="27086" y="0"/>
                  </a:cubicBez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768187A-8FDF-04A4-FE50-76292AC8F512}"/>
                </a:ext>
              </a:extLst>
            </p:cNvPr>
            <p:cNvGrpSpPr/>
            <p:nvPr userDrawn="1"/>
          </p:nvGrpSpPr>
          <p:grpSpPr>
            <a:xfrm>
              <a:off x="5285136" y="4310323"/>
              <a:ext cx="5311744" cy="404831"/>
              <a:chOff x="631856" y="3548776"/>
              <a:chExt cx="5311744" cy="404831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5D636EF-2D68-0C29-0004-980146B9F438}"/>
                  </a:ext>
                </a:extLst>
              </p:cNvPr>
              <p:cNvSpPr/>
              <p:nvPr/>
            </p:nvSpPr>
            <p:spPr>
              <a:xfrm>
                <a:off x="902168" y="3638136"/>
                <a:ext cx="5041432" cy="31547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D" sz="16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UNLOCK YOUR POTENTIAL</a:t>
                </a:r>
              </a:p>
            </p:txBody>
          </p:sp>
          <p:sp>
            <p:nvSpPr>
              <p:cNvPr id="24" name="Freeform 39">
                <a:extLst>
                  <a:ext uri="{FF2B5EF4-FFF2-40B4-BE49-F238E27FC236}">
                    <a16:creationId xmlns:a16="http://schemas.microsoft.com/office/drawing/2014/main" id="{4FAB6002-AC9E-C436-D902-7F28A625870B}"/>
                  </a:ext>
                </a:extLst>
              </p:cNvPr>
              <p:cNvSpPr/>
              <p:nvPr/>
            </p:nvSpPr>
            <p:spPr>
              <a:xfrm rot="10800000" flipH="1" flipV="1">
                <a:off x="631856" y="3548776"/>
                <a:ext cx="298720" cy="235903"/>
              </a:xfrm>
              <a:custGeom>
                <a:avLst/>
                <a:gdLst/>
                <a:ahLst/>
                <a:cxnLst/>
                <a:rect l="l" t="t" r="r" b="b"/>
                <a:pathLst>
                  <a:path w="98375" h="77688">
                    <a:moveTo>
                      <a:pt x="78134" y="0"/>
                    </a:moveTo>
                    <a:lnTo>
                      <a:pt x="98375" y="11757"/>
                    </a:lnTo>
                    <a:cubicBezTo>
                      <a:pt x="89842" y="25251"/>
                      <a:pt x="85427" y="38943"/>
                      <a:pt x="85129" y="52834"/>
                    </a:cubicBezTo>
                    <a:lnTo>
                      <a:pt x="85129" y="77688"/>
                    </a:lnTo>
                    <a:lnTo>
                      <a:pt x="51048" y="77688"/>
                    </a:lnTo>
                    <a:lnTo>
                      <a:pt x="51048" y="55364"/>
                    </a:lnTo>
                    <a:cubicBezTo>
                      <a:pt x="51048" y="46037"/>
                      <a:pt x="53652" y="36090"/>
                      <a:pt x="58861" y="25524"/>
                    </a:cubicBezTo>
                    <a:cubicBezTo>
                      <a:pt x="64070" y="14957"/>
                      <a:pt x="70494" y="6449"/>
                      <a:pt x="78134" y="0"/>
                    </a:cubicBezTo>
                    <a:close/>
                    <a:moveTo>
                      <a:pt x="27086" y="0"/>
                    </a:moveTo>
                    <a:lnTo>
                      <a:pt x="47327" y="11757"/>
                    </a:lnTo>
                    <a:cubicBezTo>
                      <a:pt x="38794" y="25251"/>
                      <a:pt x="34379" y="38943"/>
                      <a:pt x="34081" y="52834"/>
                    </a:cubicBezTo>
                    <a:lnTo>
                      <a:pt x="34081" y="77688"/>
                    </a:lnTo>
                    <a:lnTo>
                      <a:pt x="0" y="77688"/>
                    </a:lnTo>
                    <a:lnTo>
                      <a:pt x="0" y="55364"/>
                    </a:lnTo>
                    <a:cubicBezTo>
                      <a:pt x="0" y="46037"/>
                      <a:pt x="2604" y="36090"/>
                      <a:pt x="7813" y="25524"/>
                    </a:cubicBezTo>
                    <a:cubicBezTo>
                      <a:pt x="13022" y="14957"/>
                      <a:pt x="19446" y="6449"/>
                      <a:pt x="2708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</p:grp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4E42A03-7CAB-5041-8E86-71804D5F4A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9553" y="98938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694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 userDrawn="1">
  <p:cSld name="Section title and 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189" lvl="0" indent="-34289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7" lvl="1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1" lvl="5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2468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189" lvl="0" indent="-22859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" name="Freeform 56">
            <a:extLst>
              <a:ext uri="{FF2B5EF4-FFF2-40B4-BE49-F238E27FC236}">
                <a16:creationId xmlns:a16="http://schemas.microsoft.com/office/drawing/2014/main" id="{A88AFCD0-A68E-7040-94AE-0D1BA75F2DAC}"/>
              </a:ext>
            </a:extLst>
          </p:cNvPr>
          <p:cNvSpPr/>
          <p:nvPr userDrawn="1"/>
        </p:nvSpPr>
        <p:spPr>
          <a:xfrm>
            <a:off x="13749927" y="-138973"/>
            <a:ext cx="1236139" cy="4509700"/>
          </a:xfrm>
          <a:custGeom>
            <a:avLst/>
            <a:gdLst>
              <a:gd name="connsiteX0" fmla="*/ 0 w 1236138"/>
              <a:gd name="connsiteY0" fmla="*/ 0 h 4509697"/>
              <a:gd name="connsiteX1" fmla="*/ 1236138 w 1236138"/>
              <a:gd name="connsiteY1" fmla="*/ 0 h 4509697"/>
              <a:gd name="connsiteX2" fmla="*/ 1236138 w 1236138"/>
              <a:gd name="connsiteY2" fmla="*/ 4509697 h 4509697"/>
              <a:gd name="connsiteX3" fmla="*/ 0 w 1236138"/>
              <a:gd name="connsiteY3" fmla="*/ 3273558 h 450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6138" h="4509697">
                <a:moveTo>
                  <a:pt x="0" y="0"/>
                </a:moveTo>
                <a:lnTo>
                  <a:pt x="1236138" y="0"/>
                </a:lnTo>
                <a:lnTo>
                  <a:pt x="1236138" y="4509697"/>
                </a:lnTo>
                <a:lnTo>
                  <a:pt x="0" y="3273558"/>
                </a:lnTo>
                <a:close/>
              </a:path>
            </a:pathLst>
          </a:custGeom>
          <a:solidFill>
            <a:srgbClr val="006E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00"/>
          </a:p>
        </p:txBody>
      </p:sp>
      <p:sp>
        <p:nvSpPr>
          <p:cNvPr id="3" name="Freeform 48">
            <a:extLst>
              <a:ext uri="{FF2B5EF4-FFF2-40B4-BE49-F238E27FC236}">
                <a16:creationId xmlns:a16="http://schemas.microsoft.com/office/drawing/2014/main" id="{43477F39-1BBD-F526-40AC-2BC60882E79F}"/>
              </a:ext>
            </a:extLst>
          </p:cNvPr>
          <p:cNvSpPr/>
          <p:nvPr userDrawn="1"/>
        </p:nvSpPr>
        <p:spPr>
          <a:xfrm>
            <a:off x="13326852" y="1166085"/>
            <a:ext cx="2335701" cy="2335703"/>
          </a:xfrm>
          <a:custGeom>
            <a:avLst/>
            <a:gdLst>
              <a:gd name="connsiteX0" fmla="*/ 0 w 2335701"/>
              <a:gd name="connsiteY0" fmla="*/ 0 h 2335702"/>
              <a:gd name="connsiteX1" fmla="*/ 377708 w 2335701"/>
              <a:gd name="connsiteY1" fmla="*/ 0 h 2335702"/>
              <a:gd name="connsiteX2" fmla="*/ 2335701 w 2335701"/>
              <a:gd name="connsiteY2" fmla="*/ 1957994 h 2335702"/>
              <a:gd name="connsiteX3" fmla="*/ 2335701 w 2335701"/>
              <a:gd name="connsiteY3" fmla="*/ 2335702 h 2335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5701" h="2335702">
                <a:moveTo>
                  <a:pt x="0" y="0"/>
                </a:moveTo>
                <a:lnTo>
                  <a:pt x="377708" y="0"/>
                </a:lnTo>
                <a:lnTo>
                  <a:pt x="2335701" y="1957994"/>
                </a:lnTo>
                <a:lnTo>
                  <a:pt x="2335701" y="23357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00"/>
          </a:p>
        </p:txBody>
      </p:sp>
      <p:sp>
        <p:nvSpPr>
          <p:cNvPr id="4" name="Freeform 53">
            <a:extLst>
              <a:ext uri="{FF2B5EF4-FFF2-40B4-BE49-F238E27FC236}">
                <a16:creationId xmlns:a16="http://schemas.microsoft.com/office/drawing/2014/main" id="{81B0EF1A-E1FD-FBF6-7FBC-E6508427A12F}"/>
              </a:ext>
            </a:extLst>
          </p:cNvPr>
          <p:cNvSpPr/>
          <p:nvPr userDrawn="1"/>
        </p:nvSpPr>
        <p:spPr>
          <a:xfrm>
            <a:off x="12547601" y="-1266391"/>
            <a:ext cx="1236139" cy="1608772"/>
          </a:xfrm>
          <a:custGeom>
            <a:avLst/>
            <a:gdLst>
              <a:gd name="connsiteX0" fmla="*/ 0 w 1236138"/>
              <a:gd name="connsiteY0" fmla="*/ 0 h 1608771"/>
              <a:gd name="connsiteX1" fmla="*/ 5076 w 1236138"/>
              <a:gd name="connsiteY1" fmla="*/ 0 h 1608771"/>
              <a:gd name="connsiteX2" fmla="*/ 1236138 w 1236138"/>
              <a:gd name="connsiteY2" fmla="*/ 1231063 h 1608771"/>
              <a:gd name="connsiteX3" fmla="*/ 1236138 w 1236138"/>
              <a:gd name="connsiteY3" fmla="*/ 1608771 h 1608771"/>
              <a:gd name="connsiteX4" fmla="*/ 0 w 1236138"/>
              <a:gd name="connsiteY4" fmla="*/ 372632 h 160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38" h="1608771">
                <a:moveTo>
                  <a:pt x="0" y="0"/>
                </a:moveTo>
                <a:lnTo>
                  <a:pt x="5076" y="0"/>
                </a:lnTo>
                <a:lnTo>
                  <a:pt x="1236138" y="1231063"/>
                </a:lnTo>
                <a:lnTo>
                  <a:pt x="1236138" y="1608771"/>
                </a:lnTo>
                <a:lnTo>
                  <a:pt x="0" y="372632"/>
                </a:lnTo>
                <a:close/>
              </a:path>
            </a:pathLst>
          </a:custGeom>
          <a:solidFill>
            <a:srgbClr val="BE96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1377B5-6D47-6694-65A6-874DF1FD30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760" b="7353"/>
          <a:stretch/>
        </p:blipFill>
        <p:spPr>
          <a:xfrm>
            <a:off x="8503062" y="4065496"/>
            <a:ext cx="7159492" cy="425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681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 userDrawn="1">
  <p:cSld name="Big 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595867" y="3139633"/>
            <a:ext cx="11360800" cy="33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42891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7" lvl="1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1" lvl="5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63901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394BA-5D45-2846-9EC3-770DFE0E1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E97180-A75E-5249-A614-FBEDAC6F0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66108-FC60-9542-ACF1-C0CCE03D2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197D0-686E-054A-831F-F95C7E9CD7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6043D-85CB-0F46-8203-65F8DE5F9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53177-CE91-A440-82F4-E1532547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DF6D-9EF6-DB49-AD1D-6B830ABE6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89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61CB3-4EBA-5B43-B7FD-40AACB5B6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197D0-686E-054A-831F-F95C7E9CD7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F2F93-1561-8641-9BB2-2CD669BCE1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DD35B-B1E8-A54B-B8AB-B74138268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8DF6D-9EF6-DB49-AD1D-6B830ABE6C0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DBF938AF-EA14-4C4A-85B9-52C0BA9647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62751" y="1152475"/>
            <a:ext cx="576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506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4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node-js/express-j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Let's Build: Express.js Backend Application | by Amaan | Medium">
            <a:extLst>
              <a:ext uri="{FF2B5EF4-FFF2-40B4-BE49-F238E27FC236}">
                <a16:creationId xmlns:a16="http://schemas.microsoft.com/office/drawing/2014/main" id="{BA09F34D-6ED7-164A-88E3-A4F6DE46B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500" y="2028304"/>
            <a:ext cx="5427976" cy="1691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4823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3D0012-B18F-154D-86AC-305ADF41ADD6}"/>
              </a:ext>
            </a:extLst>
          </p:cNvPr>
          <p:cNvSpPr txBox="1"/>
          <p:nvPr/>
        </p:nvSpPr>
        <p:spPr>
          <a:xfrm>
            <a:off x="436755" y="1506475"/>
            <a:ext cx="6369290" cy="4628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Express.js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គឺជា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framework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សម្រាប់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Node.js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ដែលប្រើដើម្បីបង្កើត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Web Server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និង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API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។ វាដំណើរការតាមលំដាប់ដែលហៅថា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Request–Response Cycle </a:t>
            </a:r>
          </a:p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highlight>
                  <a:srgbClr val="FFFF00"/>
                </a:highlight>
                <a:latin typeface="Roboto" panose="02000000000000000000" pitchFamily="2" charset="0"/>
                <a:cs typeface="Khmer OS Siemreap" panose="02000500000000020004" pitchFamily="2" charset="77"/>
              </a:rPr>
              <a:t>Middleware-based: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Uses middleware functions to handle requests, responses, and add features like authentication, logging, or error handling</a:t>
            </a:r>
          </a:p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highlight>
                  <a:srgbClr val="FFFF00"/>
                </a:highlight>
                <a:latin typeface="Roboto" panose="02000000000000000000" pitchFamily="2" charset="0"/>
                <a:cs typeface="Khmer OS Siemreap" panose="02000500000000020004" pitchFamily="2" charset="77"/>
              </a:rPr>
              <a:t>Routing system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:  structure—developers can design apps as they want.</a:t>
            </a:r>
          </a:p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highlight>
                  <a:srgbClr val="FFFF00"/>
                </a:highlight>
                <a:latin typeface="Roboto" panose="02000000000000000000" pitchFamily="2" charset="0"/>
                <a:cs typeface="Khmer OS Siemreap" panose="02000500000000020004" pitchFamily="2" charset="77"/>
              </a:rPr>
              <a:t>Integration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: Works well with databases (MongoDB, MySQL, PostgreSQL) and front-end frameworks.</a:t>
            </a:r>
          </a:p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highlight>
                  <a:srgbClr val="FFFF00"/>
                </a:highlight>
                <a:latin typeface="Roboto" panose="02000000000000000000" pitchFamily="2" charset="0"/>
                <a:cs typeface="Khmer OS Siemreap" panose="02000500000000020004" pitchFamily="2" charset="77"/>
              </a:rPr>
              <a:t>Scalable: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សមស្របសម្រាប់កម្មវិធីតូចៗ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,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ទ្រង់ទ្រាយធំ</a:t>
            </a:r>
            <a:endParaRPr lang="en-US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7C12ED-6B70-334C-B684-0B75F205CECC}"/>
              </a:ext>
            </a:extLst>
          </p:cNvPr>
          <p:cNvSpPr/>
          <p:nvPr/>
        </p:nvSpPr>
        <p:spPr>
          <a:xfrm>
            <a:off x="436755" y="260705"/>
            <a:ext cx="3384901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1. Introduction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9532D-2D04-5B4A-9508-E8D67B2FA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014" y="3298784"/>
            <a:ext cx="5260119" cy="268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933247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CDCDD90-A061-3D41-B61C-8BE692A137D2}"/>
              </a:ext>
            </a:extLst>
          </p:cNvPr>
          <p:cNvSpPr/>
          <p:nvPr/>
        </p:nvSpPr>
        <p:spPr>
          <a:xfrm>
            <a:off x="436755" y="260705"/>
            <a:ext cx="2945743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First express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59747E-CE6C-1148-B691-5B74ABBB57DE}"/>
              </a:ext>
            </a:extLst>
          </p:cNvPr>
          <p:cNvSpPr txBox="1"/>
          <p:nvPr/>
        </p:nvSpPr>
        <p:spPr>
          <a:xfrm>
            <a:off x="277729" y="1662306"/>
            <a:ext cx="5099341" cy="3336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Step1: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ស្វែករកទីតាំង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Project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Step2: Initialize the NodeJS Project, 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77"/>
              </a:rPr>
              <a:t>creating a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package.json</a:t>
            </a:r>
            <a:endParaRPr lang="en-US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  <a:p>
            <a:pPr fontAlgn="base">
              <a:lnSpc>
                <a:spcPct val="200000"/>
              </a:lnSpc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Terminal: </a:t>
            </a:r>
            <a:r>
              <a:rPr lang="en-US" dirty="0" err="1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npm</a:t>
            </a:r>
            <a:r>
              <a:rPr lang="en-US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init</a:t>
            </a:r>
            <a:r>
              <a:rPr lang="en-US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-y</a:t>
            </a:r>
            <a:endParaRPr lang="en-US" dirty="0">
              <a:solidFill>
                <a:srgbClr val="252525"/>
              </a:solidFill>
              <a:highlight>
                <a:srgbClr val="FFFF00"/>
              </a:highlight>
              <a:latin typeface="Roboto" panose="02000000000000000000" pitchFamily="2" charset="0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Step3: Install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ExpressJS</a:t>
            </a:r>
            <a:endParaRPr lang="en-US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  <a:p>
            <a:pPr fontAlgn="base">
              <a:lnSpc>
                <a:spcPct val="200000"/>
              </a:lnSpc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Terminal: </a:t>
            </a:r>
            <a:r>
              <a:rPr lang="en-US" dirty="0" err="1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npm</a:t>
            </a:r>
            <a:r>
              <a:rPr lang="en-US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install express</a:t>
            </a:r>
            <a:endParaRPr lang="en-US" dirty="0">
              <a:solidFill>
                <a:srgbClr val="252525"/>
              </a:solidFill>
              <a:highlight>
                <a:srgbClr val="FFFF00"/>
              </a:highlight>
              <a:latin typeface="Roboto" panose="02000000000000000000" pitchFamily="2" charset="0"/>
              <a:cs typeface="Khmer OS Siemreap" panose="02000500000000020004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F8C1EB-D7E5-5D46-BDAF-CD5997131E12}"/>
              </a:ext>
            </a:extLst>
          </p:cNvPr>
          <p:cNvSpPr txBox="1"/>
          <p:nvPr/>
        </p:nvSpPr>
        <p:spPr>
          <a:xfrm>
            <a:off x="5618355" y="1662306"/>
            <a:ext cx="5099341" cy="565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Step4: Create basic express server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6179C4-B9D5-AF44-99F4-9C234ACF1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735" y="2355575"/>
            <a:ext cx="4083461" cy="24016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46FED4-D506-8A47-B750-C8451A8AA504}"/>
              </a:ext>
            </a:extLst>
          </p:cNvPr>
          <p:cNvSpPr txBox="1"/>
          <p:nvPr/>
        </p:nvSpPr>
        <p:spPr>
          <a:xfrm>
            <a:off x="5472794" y="4999117"/>
            <a:ext cx="5099341" cy="2227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Step5: Start the server</a:t>
            </a:r>
          </a:p>
          <a:p>
            <a:pPr fontAlgn="base">
              <a:lnSpc>
                <a:spcPct val="200000"/>
              </a:lnSpc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Terminal: node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index.js</a:t>
            </a:r>
            <a:endParaRPr lang="en-US" dirty="0">
              <a:solidFill>
                <a:srgbClr val="252525"/>
              </a:solidFill>
              <a:highlight>
                <a:srgbClr val="FFFF00"/>
              </a:highlight>
              <a:latin typeface="Roboto" panose="02000000000000000000" pitchFamily="2" charset="0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2919981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3D0012-B18F-154D-86AC-305ADF41ADD6}"/>
              </a:ext>
            </a:extLst>
          </p:cNvPr>
          <p:cNvSpPr txBox="1"/>
          <p:nvPr/>
        </p:nvSpPr>
        <p:spPr>
          <a:xfrm>
            <a:off x="745674" y="1708237"/>
            <a:ext cx="6369290" cy="4212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b="1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1. Client </a:t>
            </a:r>
            <a:r>
              <a:rPr lang="km-KH" b="1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ផ្ញើ </a:t>
            </a:r>
            <a:r>
              <a:rPr lang="en-US" b="1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Request</a:t>
            </a:r>
          </a:p>
          <a:p>
            <a:pPr fontAlgn="base">
              <a:lnSpc>
                <a:spcPct val="150000"/>
              </a:lnSpc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Client (Browser, Mobile App, Postman…)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ផ្ញើ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Request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មក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Server (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ឧ.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GET, POST)</a:t>
            </a:r>
          </a:p>
          <a:p>
            <a:pPr fontAlgn="base">
              <a:lnSpc>
                <a:spcPct val="150000"/>
              </a:lnSpc>
            </a:pPr>
            <a:r>
              <a:rPr lang="en-US" b="1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2. Middleware </a:t>
            </a:r>
            <a:r>
              <a:rPr lang="km-KH" b="1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ដំណើរការ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Request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នឹងឆ្លងកាត់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Middleware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ជាច្រើន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Middleware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អាច៖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ពិនិត្យ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Authentication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Log Request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កែប្រែ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req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ឬ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បន្តទៅជំហានបន្ទាប់ (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next())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DCDD90-A061-3D41-B61C-8BE692A137D2}"/>
              </a:ext>
            </a:extLst>
          </p:cNvPr>
          <p:cNvSpPr/>
          <p:nvPr/>
        </p:nvSpPr>
        <p:spPr>
          <a:xfrm>
            <a:off x="436755" y="260705"/>
            <a:ext cx="4611840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How </a:t>
            </a:r>
            <a:r>
              <a:rPr lang="en-US" sz="3600" b="1" dirty="0" err="1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ExpressJS</a:t>
            </a:r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 work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8F4AFC-562A-F84D-A971-E3C9890AF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534" y="3176915"/>
            <a:ext cx="5585711" cy="274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74559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3D0012-B18F-154D-86AC-305ADF41ADD6}"/>
              </a:ext>
            </a:extLst>
          </p:cNvPr>
          <p:cNvSpPr txBox="1"/>
          <p:nvPr/>
        </p:nvSpPr>
        <p:spPr>
          <a:xfrm>
            <a:off x="733317" y="1508464"/>
            <a:ext cx="636929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buFont typeface="+mj-lt"/>
              <a:buAutoNum type="arabicPeriod" startAt="3"/>
            </a:pPr>
            <a:r>
              <a:rPr lang="en-US" b="1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Routing (Route Handler)</a:t>
            </a:r>
          </a:p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Express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ពិនិត្យ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URL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និង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HTTP Method</a:t>
            </a:r>
          </a:p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បញ្ជូន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Request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ទៅ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Route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ដែលត្រូវគ្នា (ឧ. /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users, /login)</a:t>
            </a:r>
          </a:p>
          <a:p>
            <a:pPr fontAlgn="base">
              <a:lnSpc>
                <a:spcPct val="150000"/>
              </a:lnSpc>
            </a:pPr>
            <a:r>
              <a:rPr lang="en-US" b="1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4. Application Logic</a:t>
            </a:r>
          </a:p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Route handler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ប្រតិបត្តិ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logic</a:t>
            </a:r>
          </a:p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ទាញទិន្នន័យពី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Database</a:t>
            </a:r>
          </a:p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គណនា ឬ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validate data</a:t>
            </a:r>
          </a:p>
          <a:p>
            <a:pPr fontAlgn="base">
              <a:lnSpc>
                <a:spcPct val="150000"/>
              </a:lnSpc>
            </a:pPr>
            <a:r>
              <a:rPr lang="en-US" b="1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5. Send Response</a:t>
            </a:r>
          </a:p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Server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ផ្ញើ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Response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ត្រឡប់ទៅ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Client</a:t>
            </a:r>
          </a:p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Response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អាចជា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JSON, HTML, Status Code…</a:t>
            </a:r>
          </a:p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DCDD90-A061-3D41-B61C-8BE692A137D2}"/>
              </a:ext>
            </a:extLst>
          </p:cNvPr>
          <p:cNvSpPr/>
          <p:nvPr/>
        </p:nvSpPr>
        <p:spPr>
          <a:xfrm>
            <a:off x="436755" y="260705"/>
            <a:ext cx="4611840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How </a:t>
            </a:r>
            <a:r>
              <a:rPr lang="en-US" sz="3600" b="1" dirty="0" err="1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ExpressJS</a:t>
            </a:r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 work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8F4AFC-562A-F84D-A971-E3C9890AF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534" y="3176915"/>
            <a:ext cx="5585711" cy="274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245772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336217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1. Routing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3D0012-B18F-154D-86AC-305ADF41ADD6}"/>
              </a:ext>
            </a:extLst>
          </p:cNvPr>
          <p:cNvSpPr txBox="1"/>
          <p:nvPr/>
        </p:nvSpPr>
        <p:spPr>
          <a:xfrm>
            <a:off x="201977" y="1207238"/>
            <a:ext cx="7323288" cy="4443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Routing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គឺជាវិធីកំណត់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URL (Route)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និងប្រាប់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Server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ថា</a:t>
            </a:r>
          </a:p>
          <a:p>
            <a:pPr>
              <a:lnSpc>
                <a:spcPct val="200000"/>
              </a:lnSpc>
            </a:pP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ត្រូវធ្វើអ្វី នៅពេល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Client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ផ្ញើ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Request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មក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URL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នោះ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Express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ប្រើ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HTTP Methods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ដើម្បីបញ្ជាក់ប្រភេទសកម្មភាព</a:t>
            </a:r>
            <a:endParaRPr lang="en-US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GET =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ទាញយក</a:t>
            </a:r>
            <a:endParaRPr lang="en-US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POST =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បង្កើតថ្មី</a:t>
            </a:r>
            <a:endParaRPr lang="en-US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PUT =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កែប្រែ</a:t>
            </a:r>
            <a:endParaRPr lang="en-US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DELETE =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លុប</a:t>
            </a:r>
            <a:endParaRPr lang="en-US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All =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គ្រប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់ Method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051DCB-9395-FC4B-8408-BAD2323E8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956" y="1576809"/>
            <a:ext cx="4631746" cy="4308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1AC09C-BA68-7B42-88FF-F8930E428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488" y="3411786"/>
            <a:ext cx="3545114" cy="235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749067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659190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Parameters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958102-F386-EC4C-9C62-8C0A3C6F1E52}"/>
              </a:ext>
            </a:extLst>
          </p:cNvPr>
          <p:cNvSpPr txBox="1"/>
          <p:nvPr/>
        </p:nvSpPr>
        <p:spPr>
          <a:xfrm>
            <a:off x="189619" y="1475260"/>
            <a:ext cx="7323288" cy="1953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Parameters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គឺជា តម្លៃ (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values)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ដែល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Client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ផ្ញើមក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Server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តាម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URL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ឬ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Request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 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ធ្វើ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Route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ដំណើរការបាន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dynamic (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មិនចាំបាច់បង្កើត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route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ច្រើនៗ)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  <p:pic>
        <p:nvPicPr>
          <p:cNvPr id="1028" name="Picture 4" descr="A Complete Guide to Handling URL Parameters | SUSO">
            <a:extLst>
              <a:ext uri="{FF2B5EF4-FFF2-40B4-BE49-F238E27FC236}">
                <a16:creationId xmlns:a16="http://schemas.microsoft.com/office/drawing/2014/main" id="{CDEF3F8C-55DB-7D4A-BDD0-71B24E070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998" y="3536090"/>
            <a:ext cx="4790304" cy="239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Query Parameter in Express - Scaler Topics">
            <a:extLst>
              <a:ext uri="{FF2B5EF4-FFF2-40B4-BE49-F238E27FC236}">
                <a16:creationId xmlns:a16="http://schemas.microsoft.com/office/drawing/2014/main" id="{97C01A1C-FAD1-FC42-A19B-5540DCC62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930" y="2557848"/>
            <a:ext cx="3656072" cy="3373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4122934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659190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Parameters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A6B9B1-A983-DC49-AFD1-D20319D68608}"/>
              </a:ext>
            </a:extLst>
          </p:cNvPr>
          <p:cNvSpPr txBox="1"/>
          <p:nvPr/>
        </p:nvSpPr>
        <p:spPr>
          <a:xfrm>
            <a:off x="523252" y="1479894"/>
            <a:ext cx="7323288" cy="22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1. Route Parameters</a:t>
            </a:r>
          </a:p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ជាផ្នែកមួយនៃ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URL</a:t>
            </a:r>
          </a:p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ប្រើសញ្ញា : នៅក្នុង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route</a:t>
            </a:r>
          </a:p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Read value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req.params</a:t>
            </a:r>
            <a:endParaRPr lang="en-US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E92C8C-9695-1247-98F6-83CBBE8793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41" t="15646" r="8432" b="15465"/>
          <a:stretch/>
        </p:blipFill>
        <p:spPr>
          <a:xfrm>
            <a:off x="6775621" y="1479893"/>
            <a:ext cx="4790303" cy="22307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46EAC0-4017-DA4B-9879-B27FC4FA8339}"/>
              </a:ext>
            </a:extLst>
          </p:cNvPr>
          <p:cNvSpPr txBox="1"/>
          <p:nvPr/>
        </p:nvSpPr>
        <p:spPr>
          <a:xfrm>
            <a:off x="646819" y="4053360"/>
            <a:ext cx="7323288" cy="22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2. Query Parameters</a:t>
            </a:r>
          </a:p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ភ្ជាប់នៅខាងចុង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URL</a:t>
            </a:r>
          </a:p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ប្រើសញ្ញា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?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នឹងភ្ជាប់ដោយ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&amp;</a:t>
            </a:r>
          </a:p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Read value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req.query</a:t>
            </a:r>
            <a:endParaRPr lang="en-US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36DF74-3555-A341-A79C-710A68104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647" y="4019451"/>
            <a:ext cx="6299200" cy="207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627740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659190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Parameters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A516BC-07DE-0C4E-B2C2-B2925B5D0B94}"/>
              </a:ext>
            </a:extLst>
          </p:cNvPr>
          <p:cNvSpPr txBox="1"/>
          <p:nvPr/>
        </p:nvSpPr>
        <p:spPr>
          <a:xfrm>
            <a:off x="436755" y="1575486"/>
            <a:ext cx="7323288" cy="22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3. Request Body Parameters</a:t>
            </a:r>
          </a:p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ផ្ញើមកក្នុង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Body (POST / PUT)</a:t>
            </a:r>
          </a:p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ត្រូវប្រើ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middleware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express.json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()</a:t>
            </a:r>
          </a:p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Read value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req.query</a:t>
            </a:r>
            <a:endParaRPr lang="en-US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7635FE-D513-2A44-BF8F-565926B50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76" y="4000671"/>
            <a:ext cx="3776900" cy="18930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DD4D9C-2B74-7145-83C2-5A744F45D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1612" y="3906998"/>
            <a:ext cx="4077804" cy="198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512056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713628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Middleware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844E61-3E75-7E40-89E9-6915133A6B9A}"/>
              </a:ext>
            </a:extLst>
          </p:cNvPr>
          <p:cNvSpPr txBox="1"/>
          <p:nvPr/>
        </p:nvSpPr>
        <p:spPr>
          <a:xfrm>
            <a:off x="436754" y="1455180"/>
            <a:ext cx="936215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Middleware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គឺជា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function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មួយ ដែលដំណើរការ នៅកណ្ដាល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Request–Response Cycle</a:t>
            </a:r>
            <a:endParaRPr lang="km-KH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req (request)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res (response)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next() (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បន្តទៅ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middleware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បន្ទាប់)</a:t>
            </a:r>
          </a:p>
          <a:p>
            <a:endParaRPr lang="km-K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AEA58-F5B1-9C4D-883C-C7B31BA66057}"/>
              </a:ext>
            </a:extLst>
          </p:cNvPr>
          <p:cNvSpPr txBox="1"/>
          <p:nvPr/>
        </p:nvSpPr>
        <p:spPr>
          <a:xfrm>
            <a:off x="436754" y="3802964"/>
            <a:ext cx="7323288" cy="1399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1. Logging Requests</a:t>
            </a:r>
          </a:p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Log URL, Method, Time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8805F9-EDAE-A441-91CC-B717053B2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246" y="3671673"/>
            <a:ext cx="4953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606293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713628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Middleware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AEA58-F5B1-9C4D-883C-C7B31BA66057}"/>
              </a:ext>
            </a:extLst>
          </p:cNvPr>
          <p:cNvSpPr txBox="1"/>
          <p:nvPr/>
        </p:nvSpPr>
        <p:spPr>
          <a:xfrm>
            <a:off x="436755" y="1603461"/>
            <a:ext cx="7323288" cy="1399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2. Authentication &amp; Authorization</a:t>
            </a:r>
          </a:p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ពិនិត្យថា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user login or have permission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9E925D-8648-3247-A354-A4628C14F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497" y="1495167"/>
            <a:ext cx="5043748" cy="20920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E5DE53-9E5D-4B43-B4FA-D74232CEC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495" y="3996724"/>
            <a:ext cx="5043749" cy="1879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CDB2A6-213E-3A45-82A3-7D382F2E330E}"/>
              </a:ext>
            </a:extLst>
          </p:cNvPr>
          <p:cNvSpPr txBox="1"/>
          <p:nvPr/>
        </p:nvSpPr>
        <p:spPr>
          <a:xfrm>
            <a:off x="436755" y="3880885"/>
            <a:ext cx="7323288" cy="1399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3. Error handling</a:t>
            </a:r>
          </a:p>
          <a:p>
            <a:pPr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ចាប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់ Error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ដើម្បីមិនអោយ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Server crash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27462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4432047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Built-in Middleware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AEA58-F5B1-9C4D-883C-C7B31BA66057}"/>
              </a:ext>
            </a:extLst>
          </p:cNvPr>
          <p:cNvSpPr txBox="1"/>
          <p:nvPr/>
        </p:nvSpPr>
        <p:spPr>
          <a:xfrm>
            <a:off x="436755" y="1603461"/>
            <a:ext cx="7323288" cy="5000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express.json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()</a:t>
            </a:r>
            <a:b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</a:b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បន្លែង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JSON Body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express.urlencoded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()</a:t>
            </a:r>
            <a:b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</a:b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បន្លែង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Form data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express.static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()</a:t>
            </a:r>
            <a:b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</a:b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Serve static files (HTML, CSS, images)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express.Router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()</a:t>
            </a:r>
            <a:b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</a:b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បែងចែក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route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ជា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module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8C2FF5-3B70-434A-B46D-423700362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645" y="1490019"/>
            <a:ext cx="63246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129618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3237425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Error handling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AEA58-F5B1-9C4D-883C-C7B31BA66057}"/>
              </a:ext>
            </a:extLst>
          </p:cNvPr>
          <p:cNvSpPr txBox="1"/>
          <p:nvPr/>
        </p:nvSpPr>
        <p:spPr>
          <a:xfrm>
            <a:off x="436755" y="1603461"/>
            <a:ext cx="732328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Error handling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គឺធ្វើតាមរយៈ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Error-handling Middleware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ពិសេស</a:t>
            </a:r>
          </a:p>
          <a:p>
            <a:pPr>
              <a:lnSpc>
                <a:spcPct val="200000"/>
              </a:lnSpc>
            </a:pP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ដែលមាន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parameter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៤៖</a:t>
            </a:r>
            <a:endParaRPr lang="en-US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1.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មាន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error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កើតឡើងក្នុង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route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ឬ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middleware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2. Express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បញ្ជូន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error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ទៅ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error-handling middleware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3. Error middleware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ចាប់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error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4. Server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ផ្ញើ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response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ត្រឡប់ទៅ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client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5. Server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មិន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crash 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84D1D4-2007-1E4F-AC77-27EAB3209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1884" y="1235676"/>
            <a:ext cx="4393361" cy="480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809282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233945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3D0012-B18F-154D-86AC-305ADF41ADD6}"/>
              </a:ext>
            </a:extLst>
          </p:cNvPr>
          <p:cNvSpPr txBox="1"/>
          <p:nvPr/>
        </p:nvSpPr>
        <p:spPr>
          <a:xfrm>
            <a:off x="436755" y="1602671"/>
            <a:ext cx="499994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Easy to read and fine code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Easy to maintenance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Scalable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Easy for debug and testing</a:t>
            </a:r>
            <a:endParaRPr lang="km-KH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0EB158-FBFD-C340-8D7A-5D18E0D7A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470" y="1408670"/>
            <a:ext cx="3487962" cy="44978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288735-D7D9-BC4C-8A06-69A6319B4C02}"/>
              </a:ext>
            </a:extLst>
          </p:cNvPr>
          <p:cNvSpPr txBox="1"/>
          <p:nvPr/>
        </p:nvSpPr>
        <p:spPr>
          <a:xfrm>
            <a:off x="436754" y="3726329"/>
            <a:ext cx="4999949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Route​ -&gt;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ទទួល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request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Controller -&gt; 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គ្រប់គ្រង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 logic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Service -&gt; Business rules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Model -&gt; Database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Middleware -&gt; Auth, Log, Validation</a:t>
            </a:r>
            <a:endParaRPr lang="km-KH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84434916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87BDF9-61E1-604B-A2E1-BAF43F04F023}"/>
              </a:ext>
            </a:extLst>
          </p:cNvPr>
          <p:cNvSpPr/>
          <p:nvPr/>
        </p:nvSpPr>
        <p:spPr>
          <a:xfrm>
            <a:off x="436755" y="260705"/>
            <a:ext cx="2210926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Migration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ACEC10-CCED-F145-9D1A-12ED2DDBA81D}"/>
              </a:ext>
            </a:extLst>
          </p:cNvPr>
          <p:cNvSpPr txBox="1"/>
          <p:nvPr/>
        </p:nvSpPr>
        <p:spPr>
          <a:xfrm>
            <a:off x="436755" y="1602671"/>
            <a:ext cx="4999949" cy="309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Easy to read and fine code</a:t>
            </a:r>
          </a:p>
          <a:p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node-</a:t>
            </a:r>
            <a:r>
              <a:rPr lang="en-US" dirty="0" err="1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pg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-migrate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គឺជា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migration tool </a:t>
            </a:r>
            <a:r>
              <a:rPr lang="km-KH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សម្រាប់ </a:t>
            </a: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PostgreSQL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Migration = version control for DB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Up() = apply change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Down() = rollback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252525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  <a:p>
            <a:pPr fontAlgn="base">
              <a:lnSpc>
                <a:spcPct val="150000"/>
              </a:lnSpc>
            </a:pPr>
            <a:r>
              <a:rPr lang="en-US" dirty="0">
                <a:solidFill>
                  <a:srgbClr val="252525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Terminal= </a:t>
            </a:r>
            <a:r>
              <a:rPr lang="en-US" dirty="0" err="1">
                <a:highlight>
                  <a:srgbClr val="FFFF00"/>
                </a:highlight>
              </a:rPr>
              <a:t>npm</a:t>
            </a:r>
            <a:r>
              <a:rPr lang="en-US" dirty="0">
                <a:highlight>
                  <a:srgbClr val="FFFF00"/>
                </a:highlight>
              </a:rPr>
              <a:t> install node-</a:t>
            </a:r>
            <a:r>
              <a:rPr lang="en-US" dirty="0" err="1">
                <a:highlight>
                  <a:srgbClr val="FFFF00"/>
                </a:highlight>
              </a:rPr>
              <a:t>pg</a:t>
            </a:r>
            <a:r>
              <a:rPr lang="en-US" dirty="0">
                <a:highlight>
                  <a:srgbClr val="FFFF00"/>
                </a:highlight>
              </a:rPr>
              <a:t>-migrate </a:t>
            </a:r>
            <a:r>
              <a:rPr lang="en-US" dirty="0" err="1">
                <a:highlight>
                  <a:srgbClr val="FFFF00"/>
                </a:highlight>
              </a:rPr>
              <a:t>pg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72825228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82BAD5-29D5-3440-8376-EC9D99C3A6D3}"/>
              </a:ext>
            </a:extLst>
          </p:cNvPr>
          <p:cNvSpPr txBox="1"/>
          <p:nvPr/>
        </p:nvSpPr>
        <p:spPr>
          <a:xfrm>
            <a:off x="906312" y="3120933"/>
            <a:ext cx="499994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cs typeface="Khmer OS Siemreap" panose="02000500000000020004" pitchFamily="2" charset="7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https://www.geeksforgeeks.org/node-js/express-js/</a:t>
            </a:r>
            <a:endParaRPr lang="en-US" dirty="0">
              <a:solidFill>
                <a:schemeClr val="bg1"/>
              </a:solidFill>
              <a:latin typeface="Roboto" panose="02000000000000000000" pitchFamily="2" charset="0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https://</a:t>
            </a:r>
            <a:r>
              <a:rPr lang="en-US" dirty="0" err="1">
                <a:solidFill>
                  <a:schemeClr val="bg1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expressjs.com</a:t>
            </a:r>
            <a:r>
              <a:rPr lang="en-US" dirty="0">
                <a:solidFill>
                  <a:schemeClr val="bg1"/>
                </a:solidFill>
                <a:latin typeface="Roboto" panose="02000000000000000000" pitchFamily="2" charset="0"/>
                <a:cs typeface="Khmer OS Siemreap" panose="02000500000000020004" pitchFamily="2" charset="77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825847943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7532</TotalTime>
  <Words>720</Words>
  <Application>Microsoft Office PowerPoint</Application>
  <PresentationFormat>Widescreen</PresentationFormat>
  <Paragraphs>116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 Black</vt:lpstr>
      <vt:lpstr>Arial</vt:lpstr>
      <vt:lpstr>Calibri</vt:lpstr>
      <vt:lpstr>Consolas</vt:lpstr>
      <vt:lpstr>Nunito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EM Seyha</cp:lastModifiedBy>
  <cp:revision>51</cp:revision>
  <dcterms:created xsi:type="dcterms:W3CDTF">2025-10-06T13:45:52Z</dcterms:created>
  <dcterms:modified xsi:type="dcterms:W3CDTF">2026-03-16T14:12:34Z</dcterms:modified>
</cp:coreProperties>
</file>