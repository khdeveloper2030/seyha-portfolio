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7" r:id="rId2"/>
    <p:sldId id="261" r:id="rId3"/>
    <p:sldId id="351" r:id="rId4"/>
    <p:sldId id="400" r:id="rId5"/>
    <p:sldId id="401" r:id="rId6"/>
    <p:sldId id="402" r:id="rId7"/>
    <p:sldId id="399" r:id="rId8"/>
    <p:sldId id="352" r:id="rId9"/>
    <p:sldId id="403" r:id="rId10"/>
    <p:sldId id="353" r:id="rId11"/>
    <p:sldId id="354" r:id="rId12"/>
    <p:sldId id="355" r:id="rId13"/>
    <p:sldId id="357" r:id="rId14"/>
    <p:sldId id="356" r:id="rId15"/>
    <p:sldId id="358" r:id="rId16"/>
    <p:sldId id="359" r:id="rId17"/>
    <p:sldId id="360" r:id="rId18"/>
    <p:sldId id="361" r:id="rId19"/>
    <p:sldId id="362" r:id="rId20"/>
    <p:sldId id="363" r:id="rId21"/>
    <p:sldId id="364" r:id="rId22"/>
    <p:sldId id="365" r:id="rId23"/>
    <p:sldId id="366" r:id="rId24"/>
    <p:sldId id="404" r:id="rId25"/>
    <p:sldId id="405" r:id="rId26"/>
    <p:sldId id="367" r:id="rId27"/>
    <p:sldId id="368" r:id="rId28"/>
    <p:sldId id="369" r:id="rId29"/>
    <p:sldId id="370" r:id="rId30"/>
    <p:sldId id="371" r:id="rId31"/>
    <p:sldId id="372" r:id="rId32"/>
    <p:sldId id="373" r:id="rId33"/>
    <p:sldId id="374" r:id="rId34"/>
    <p:sldId id="375" r:id="rId35"/>
    <p:sldId id="376" r:id="rId36"/>
    <p:sldId id="377" r:id="rId37"/>
    <p:sldId id="378" r:id="rId38"/>
    <p:sldId id="379" r:id="rId39"/>
    <p:sldId id="380" r:id="rId40"/>
    <p:sldId id="381" r:id="rId41"/>
    <p:sldId id="382" r:id="rId42"/>
    <p:sldId id="383" r:id="rId43"/>
    <p:sldId id="393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E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/>
    <p:restoredTop sz="87330"/>
  </p:normalViewPr>
  <p:slideViewPr>
    <p:cSldViewPr snapToGrid="0" snapToObjects="1">
      <p:cViewPr varScale="1">
        <p:scale>
          <a:sx n="70" d="100"/>
          <a:sy n="70" d="100"/>
        </p:scale>
        <p:origin x="19" y="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E4EFFA-5307-D34E-95E8-5D7B50765241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0C0E3F-DD6D-464A-9863-47A3B5E22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00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https://www.w3schools.com/</a:t>
            </a:r>
            <a:r>
              <a:rPr lang="en-US" dirty="0" err="1"/>
              <a:t>js</a:t>
            </a:r>
            <a:r>
              <a:rPr lang="en-US" dirty="0"/>
              <a:t>/</a:t>
            </a:r>
            <a:r>
              <a:rPr lang="en-US" dirty="0" err="1"/>
              <a:t>tryit.asp?filename</a:t>
            </a:r>
            <a:r>
              <a:rPr lang="en-US" dirty="0"/>
              <a:t>=</a:t>
            </a:r>
            <a:r>
              <a:rPr lang="en-US" dirty="0" err="1"/>
              <a:t>tryjs_intro_lightbulb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0C0E3F-DD6D-464A-9863-47A3B5E22F3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0634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0C0E3F-DD6D-464A-9863-47A3B5E22F3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1176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https://san-</a:t>
            </a:r>
            <a:r>
              <a:rPr lang="en-US" dirty="0" err="1"/>
              <a:t>ratana.notion.site</a:t>
            </a:r>
            <a:r>
              <a:rPr lang="en-US" dirty="0"/>
              <a:t>/Javascript-demo-2be6523411ca801783a8f88e55179b2f?source=</a:t>
            </a:r>
            <a:r>
              <a:rPr lang="en-US" dirty="0" err="1"/>
              <a:t>copy_link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0C0E3F-DD6D-464A-9863-47A3B5E22F3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6030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0C0E3F-DD6D-464A-9863-47A3B5E22F3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229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app.salaitdevelopment.com/" TargetMode="External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1_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nip Single Corner Rectangle 45">
            <a:extLst>
              <a:ext uri="{FF2B5EF4-FFF2-40B4-BE49-F238E27FC236}">
                <a16:creationId xmlns:a16="http://schemas.microsoft.com/office/drawing/2014/main" id="{EE1A6E72-DF69-9936-4B5F-AC93BB388E1C}"/>
              </a:ext>
            </a:extLst>
          </p:cNvPr>
          <p:cNvSpPr/>
          <p:nvPr userDrawn="1"/>
        </p:nvSpPr>
        <p:spPr>
          <a:xfrm>
            <a:off x="0" y="5008880"/>
            <a:ext cx="12192000" cy="1852507"/>
          </a:xfrm>
          <a:prstGeom prst="snip1Rect">
            <a:avLst>
              <a:gd name="adj" fmla="val 50000"/>
            </a:avLst>
          </a:prstGeom>
          <a:solidFill>
            <a:srgbClr val="006E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b="0" dirty="0">
                <a:effectLst/>
              </a:rPr>
              <a:t> </a:t>
            </a:r>
            <a:endParaRPr lang="en-US" sz="4000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6772484-0ED3-6CF8-76CE-48F05546AAA9}"/>
              </a:ext>
            </a:extLst>
          </p:cNvPr>
          <p:cNvGrpSpPr/>
          <p:nvPr userDrawn="1"/>
        </p:nvGrpSpPr>
        <p:grpSpPr>
          <a:xfrm>
            <a:off x="7046848" y="6172759"/>
            <a:ext cx="7082325" cy="624227"/>
            <a:chOff x="5285136" y="4310323"/>
            <a:chExt cx="5311744" cy="468170"/>
          </a:xfrm>
        </p:grpSpPr>
        <p:sp>
          <p:nvSpPr>
            <p:cNvPr id="8" name="Freeform 39">
              <a:extLst>
                <a:ext uri="{FF2B5EF4-FFF2-40B4-BE49-F238E27FC236}">
                  <a16:creationId xmlns:a16="http://schemas.microsoft.com/office/drawing/2014/main" id="{0BEC4127-EC3B-1641-354B-385A1ED09DE1}"/>
                </a:ext>
              </a:extLst>
            </p:cNvPr>
            <p:cNvSpPr/>
            <p:nvPr userDrawn="1"/>
          </p:nvSpPr>
          <p:spPr>
            <a:xfrm rot="10800000" flipH="1" flipV="1">
              <a:off x="6138862" y="4658911"/>
              <a:ext cx="151425" cy="119582"/>
            </a:xfrm>
            <a:custGeom>
              <a:avLst/>
              <a:gdLst/>
              <a:ahLst/>
              <a:cxnLst/>
              <a:rect l="l" t="t" r="r" b="b"/>
              <a:pathLst>
                <a:path w="98375" h="77688">
                  <a:moveTo>
                    <a:pt x="78134" y="0"/>
                  </a:moveTo>
                  <a:lnTo>
                    <a:pt x="98375" y="11757"/>
                  </a:lnTo>
                  <a:cubicBezTo>
                    <a:pt x="89842" y="25251"/>
                    <a:pt x="85427" y="38943"/>
                    <a:pt x="85129" y="52834"/>
                  </a:cubicBezTo>
                  <a:lnTo>
                    <a:pt x="85129" y="77688"/>
                  </a:lnTo>
                  <a:lnTo>
                    <a:pt x="51048" y="77688"/>
                  </a:lnTo>
                  <a:lnTo>
                    <a:pt x="51048" y="55364"/>
                  </a:lnTo>
                  <a:cubicBezTo>
                    <a:pt x="51048" y="46037"/>
                    <a:pt x="53652" y="36090"/>
                    <a:pt x="58861" y="25524"/>
                  </a:cubicBezTo>
                  <a:cubicBezTo>
                    <a:pt x="64070" y="14957"/>
                    <a:pt x="70494" y="6449"/>
                    <a:pt x="78134" y="0"/>
                  </a:cubicBezTo>
                  <a:close/>
                  <a:moveTo>
                    <a:pt x="27086" y="0"/>
                  </a:moveTo>
                  <a:lnTo>
                    <a:pt x="47327" y="11757"/>
                  </a:lnTo>
                  <a:cubicBezTo>
                    <a:pt x="38794" y="25251"/>
                    <a:pt x="34379" y="38943"/>
                    <a:pt x="34081" y="52834"/>
                  </a:cubicBezTo>
                  <a:lnTo>
                    <a:pt x="34081" y="77688"/>
                  </a:lnTo>
                  <a:lnTo>
                    <a:pt x="0" y="77688"/>
                  </a:lnTo>
                  <a:lnTo>
                    <a:pt x="0" y="55364"/>
                  </a:lnTo>
                  <a:cubicBezTo>
                    <a:pt x="0" y="46037"/>
                    <a:pt x="2604" y="36090"/>
                    <a:pt x="7813" y="25524"/>
                  </a:cubicBezTo>
                  <a:cubicBezTo>
                    <a:pt x="13022" y="14957"/>
                    <a:pt x="19446" y="6449"/>
                    <a:pt x="27086" y="0"/>
                  </a:cubicBezTo>
                  <a:close/>
                </a:path>
              </a:pathLst>
            </a:custGeom>
            <a:solidFill>
              <a:srgbClr val="006E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0A9A897-311C-8A2E-B2C9-D0E71450D5B6}"/>
                </a:ext>
              </a:extLst>
            </p:cNvPr>
            <p:cNvGrpSpPr/>
            <p:nvPr userDrawn="1"/>
          </p:nvGrpSpPr>
          <p:grpSpPr>
            <a:xfrm>
              <a:off x="5285136" y="4310323"/>
              <a:ext cx="5311744" cy="404831"/>
              <a:chOff x="631856" y="3548776"/>
              <a:chExt cx="5311744" cy="404831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8284C36-E4D1-4F7B-AAC5-8F77739A469A}"/>
                  </a:ext>
                </a:extLst>
              </p:cNvPr>
              <p:cNvSpPr/>
              <p:nvPr/>
            </p:nvSpPr>
            <p:spPr>
              <a:xfrm>
                <a:off x="902168" y="3638136"/>
                <a:ext cx="5041432" cy="315471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D" sz="1600" b="1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UNLOCK YOUR POTENTIAL</a:t>
                </a:r>
              </a:p>
            </p:txBody>
          </p:sp>
          <p:sp>
            <p:nvSpPr>
              <p:cNvPr id="6" name="Freeform 39">
                <a:extLst>
                  <a:ext uri="{FF2B5EF4-FFF2-40B4-BE49-F238E27FC236}">
                    <a16:creationId xmlns:a16="http://schemas.microsoft.com/office/drawing/2014/main" id="{351FD69F-C469-A277-0658-1C819EDC6609}"/>
                  </a:ext>
                </a:extLst>
              </p:cNvPr>
              <p:cNvSpPr/>
              <p:nvPr/>
            </p:nvSpPr>
            <p:spPr>
              <a:xfrm rot="10800000" flipH="1" flipV="1">
                <a:off x="631856" y="3548776"/>
                <a:ext cx="298720" cy="235903"/>
              </a:xfrm>
              <a:custGeom>
                <a:avLst/>
                <a:gdLst/>
                <a:ahLst/>
                <a:cxnLst/>
                <a:rect l="l" t="t" r="r" b="b"/>
                <a:pathLst>
                  <a:path w="98375" h="77688">
                    <a:moveTo>
                      <a:pt x="78134" y="0"/>
                    </a:moveTo>
                    <a:lnTo>
                      <a:pt x="98375" y="11757"/>
                    </a:lnTo>
                    <a:cubicBezTo>
                      <a:pt x="89842" y="25251"/>
                      <a:pt x="85427" y="38943"/>
                      <a:pt x="85129" y="52834"/>
                    </a:cubicBezTo>
                    <a:lnTo>
                      <a:pt x="85129" y="77688"/>
                    </a:lnTo>
                    <a:lnTo>
                      <a:pt x="51048" y="77688"/>
                    </a:lnTo>
                    <a:lnTo>
                      <a:pt x="51048" y="55364"/>
                    </a:lnTo>
                    <a:cubicBezTo>
                      <a:pt x="51048" y="46037"/>
                      <a:pt x="53652" y="36090"/>
                      <a:pt x="58861" y="25524"/>
                    </a:cubicBezTo>
                    <a:cubicBezTo>
                      <a:pt x="64070" y="14957"/>
                      <a:pt x="70494" y="6449"/>
                      <a:pt x="78134" y="0"/>
                    </a:cubicBezTo>
                    <a:close/>
                    <a:moveTo>
                      <a:pt x="27086" y="0"/>
                    </a:moveTo>
                    <a:lnTo>
                      <a:pt x="47327" y="11757"/>
                    </a:lnTo>
                    <a:cubicBezTo>
                      <a:pt x="38794" y="25251"/>
                      <a:pt x="34379" y="38943"/>
                      <a:pt x="34081" y="52834"/>
                    </a:cubicBezTo>
                    <a:lnTo>
                      <a:pt x="34081" y="77688"/>
                    </a:lnTo>
                    <a:lnTo>
                      <a:pt x="0" y="77688"/>
                    </a:lnTo>
                    <a:lnTo>
                      <a:pt x="0" y="55364"/>
                    </a:lnTo>
                    <a:cubicBezTo>
                      <a:pt x="0" y="46037"/>
                      <a:pt x="2604" y="36090"/>
                      <a:pt x="7813" y="25524"/>
                    </a:cubicBezTo>
                    <a:cubicBezTo>
                      <a:pt x="13022" y="14957"/>
                      <a:pt x="19446" y="6449"/>
                      <a:pt x="2708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</p:grp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3BD4AFEF-1F5B-884F-B784-9ACC610E16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307" y="129483"/>
            <a:ext cx="1828800" cy="1828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9E3F00-B81A-9B41-B6BC-84A26BBC70A0}"/>
              </a:ext>
            </a:extLst>
          </p:cNvPr>
          <p:cNvSpPr txBox="1"/>
          <p:nvPr userDrawn="1"/>
        </p:nvSpPr>
        <p:spPr>
          <a:xfrm>
            <a:off x="251601" y="5230254"/>
            <a:ext cx="1898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"/>
              </a:rPr>
              <a:t>Contact us:</a:t>
            </a:r>
          </a:p>
        </p:txBody>
      </p:sp>
      <p:pic>
        <p:nvPicPr>
          <p:cNvPr id="9" name="Graphic 8" descr="Earth globe: Americas with solid fill">
            <a:extLst>
              <a:ext uri="{FF2B5EF4-FFF2-40B4-BE49-F238E27FC236}">
                <a16:creationId xmlns:a16="http://schemas.microsoft.com/office/drawing/2014/main" id="{A8E61CC3-4923-3F46-B899-22545B4B35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1971" y="6093326"/>
            <a:ext cx="274320" cy="274320"/>
          </a:xfrm>
          <a:prstGeom prst="rect">
            <a:avLst/>
          </a:prstGeom>
        </p:spPr>
      </p:pic>
      <p:pic>
        <p:nvPicPr>
          <p:cNvPr id="12" name="Graphic 11" descr="Receiver with solid fill">
            <a:extLst>
              <a:ext uri="{FF2B5EF4-FFF2-40B4-BE49-F238E27FC236}">
                <a16:creationId xmlns:a16="http://schemas.microsoft.com/office/drawing/2014/main" id="{70089D4B-98F8-184C-9D3D-5726E2CA0C6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1971" y="5663047"/>
            <a:ext cx="274320" cy="27432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4BEFA59-341D-2143-9FE8-154510F763F4}"/>
              </a:ext>
            </a:extLst>
          </p:cNvPr>
          <p:cNvSpPr txBox="1"/>
          <p:nvPr userDrawn="1"/>
        </p:nvSpPr>
        <p:spPr>
          <a:xfrm>
            <a:off x="625690" y="5683789"/>
            <a:ext cx="1898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"/>
              </a:rPr>
              <a:t>011 504 463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9251C8-1DA8-3F47-A00B-566CC72C4D7D}"/>
              </a:ext>
            </a:extLst>
          </p:cNvPr>
          <p:cNvSpPr txBox="1"/>
          <p:nvPr userDrawn="1"/>
        </p:nvSpPr>
        <p:spPr>
          <a:xfrm>
            <a:off x="606291" y="6064500"/>
            <a:ext cx="4617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chemeClr val="bg1"/>
                </a:solidFill>
                <a:latin typeface="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app.salaitdevelopment.com</a:t>
            </a:r>
            <a:endParaRPr lang="en-US" sz="1400" u="sng" dirty="0">
              <a:solidFill>
                <a:schemeClr val="bg1"/>
              </a:solidFill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3022992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01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339F32B-FA24-03B9-DAC0-D994ED2679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DDBC540-E41E-72E4-E2D2-17EBB6A6C00C}"/>
              </a:ext>
            </a:extLst>
          </p:cNvPr>
          <p:cNvGrpSpPr/>
          <p:nvPr userDrawn="1"/>
        </p:nvGrpSpPr>
        <p:grpSpPr>
          <a:xfrm>
            <a:off x="-39209" y="6312920"/>
            <a:ext cx="12689647" cy="515789"/>
            <a:chOff x="-29407" y="4724530"/>
            <a:chExt cx="9517235" cy="386842"/>
          </a:xfrm>
        </p:grpSpPr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EC17D452-255F-2D4F-E136-032E261B30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9407" y="4724530"/>
              <a:ext cx="4743914" cy="386842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4C03FF98-DF31-EFC5-E206-664F433C12F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43914" y="4724530"/>
              <a:ext cx="4743914" cy="386842"/>
            </a:xfrm>
            <a:prstGeom prst="rect">
              <a:avLst/>
            </a:prstGeom>
          </p:spPr>
        </p:pic>
      </p:grp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4DD8F2D-F5BB-AE88-C31A-36B2E7B46732}"/>
              </a:ext>
            </a:extLst>
          </p:cNvPr>
          <p:cNvSpPr/>
          <p:nvPr userDrawn="1"/>
        </p:nvSpPr>
        <p:spPr>
          <a:xfrm>
            <a:off x="317888" y="6303356"/>
            <a:ext cx="693651" cy="33357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383FF56-2E67-4C85-F4AE-939E87DCFA76}"/>
              </a:ext>
            </a:extLst>
          </p:cNvPr>
          <p:cNvGrpSpPr/>
          <p:nvPr userDrawn="1"/>
        </p:nvGrpSpPr>
        <p:grpSpPr>
          <a:xfrm>
            <a:off x="7046848" y="6172759"/>
            <a:ext cx="7082325" cy="624227"/>
            <a:chOff x="5285136" y="4310323"/>
            <a:chExt cx="5311744" cy="468170"/>
          </a:xfrm>
        </p:grpSpPr>
        <p:sp>
          <p:nvSpPr>
            <p:cNvPr id="45" name="Freeform 39">
              <a:extLst>
                <a:ext uri="{FF2B5EF4-FFF2-40B4-BE49-F238E27FC236}">
                  <a16:creationId xmlns:a16="http://schemas.microsoft.com/office/drawing/2014/main" id="{E719884A-0563-31E8-54B2-798D18A386B3}"/>
                </a:ext>
              </a:extLst>
            </p:cNvPr>
            <p:cNvSpPr/>
            <p:nvPr userDrawn="1"/>
          </p:nvSpPr>
          <p:spPr>
            <a:xfrm rot="10800000" flipH="1" flipV="1">
              <a:off x="6138862" y="4658911"/>
              <a:ext cx="151425" cy="119582"/>
            </a:xfrm>
            <a:custGeom>
              <a:avLst/>
              <a:gdLst/>
              <a:ahLst/>
              <a:cxnLst/>
              <a:rect l="l" t="t" r="r" b="b"/>
              <a:pathLst>
                <a:path w="98375" h="77688">
                  <a:moveTo>
                    <a:pt x="78134" y="0"/>
                  </a:moveTo>
                  <a:lnTo>
                    <a:pt x="98375" y="11757"/>
                  </a:lnTo>
                  <a:cubicBezTo>
                    <a:pt x="89842" y="25251"/>
                    <a:pt x="85427" y="38943"/>
                    <a:pt x="85129" y="52834"/>
                  </a:cubicBezTo>
                  <a:lnTo>
                    <a:pt x="85129" y="77688"/>
                  </a:lnTo>
                  <a:lnTo>
                    <a:pt x="51048" y="77688"/>
                  </a:lnTo>
                  <a:lnTo>
                    <a:pt x="51048" y="55364"/>
                  </a:lnTo>
                  <a:cubicBezTo>
                    <a:pt x="51048" y="46037"/>
                    <a:pt x="53652" y="36090"/>
                    <a:pt x="58861" y="25524"/>
                  </a:cubicBezTo>
                  <a:cubicBezTo>
                    <a:pt x="64070" y="14957"/>
                    <a:pt x="70494" y="6449"/>
                    <a:pt x="78134" y="0"/>
                  </a:cubicBezTo>
                  <a:close/>
                  <a:moveTo>
                    <a:pt x="27086" y="0"/>
                  </a:moveTo>
                  <a:lnTo>
                    <a:pt x="47327" y="11757"/>
                  </a:lnTo>
                  <a:cubicBezTo>
                    <a:pt x="38794" y="25251"/>
                    <a:pt x="34379" y="38943"/>
                    <a:pt x="34081" y="52834"/>
                  </a:cubicBezTo>
                  <a:lnTo>
                    <a:pt x="34081" y="77688"/>
                  </a:lnTo>
                  <a:lnTo>
                    <a:pt x="0" y="77688"/>
                  </a:lnTo>
                  <a:lnTo>
                    <a:pt x="0" y="55364"/>
                  </a:lnTo>
                  <a:cubicBezTo>
                    <a:pt x="0" y="46037"/>
                    <a:pt x="2604" y="36090"/>
                    <a:pt x="7813" y="25524"/>
                  </a:cubicBezTo>
                  <a:cubicBezTo>
                    <a:pt x="13022" y="14957"/>
                    <a:pt x="19446" y="6449"/>
                    <a:pt x="27086" y="0"/>
                  </a:cubicBezTo>
                  <a:close/>
                </a:path>
              </a:pathLst>
            </a:custGeom>
            <a:solidFill>
              <a:srgbClr val="006E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/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0CEFFDDC-8FB3-4C51-2765-0203337A6E07}"/>
                </a:ext>
              </a:extLst>
            </p:cNvPr>
            <p:cNvGrpSpPr/>
            <p:nvPr userDrawn="1"/>
          </p:nvGrpSpPr>
          <p:grpSpPr>
            <a:xfrm>
              <a:off x="5285136" y="4310323"/>
              <a:ext cx="5311744" cy="404831"/>
              <a:chOff x="631856" y="3548776"/>
              <a:chExt cx="5311744" cy="404831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CF68C89C-F478-8C0A-B310-6C8A0E09293C}"/>
                  </a:ext>
                </a:extLst>
              </p:cNvPr>
              <p:cNvSpPr/>
              <p:nvPr/>
            </p:nvSpPr>
            <p:spPr>
              <a:xfrm>
                <a:off x="902168" y="3638136"/>
                <a:ext cx="5041432" cy="315471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D" sz="1600" b="1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UNLOCK YOUR POTENTIAL</a:t>
                </a:r>
              </a:p>
            </p:txBody>
          </p:sp>
          <p:sp>
            <p:nvSpPr>
              <p:cNvPr id="48" name="Freeform 39">
                <a:extLst>
                  <a:ext uri="{FF2B5EF4-FFF2-40B4-BE49-F238E27FC236}">
                    <a16:creationId xmlns:a16="http://schemas.microsoft.com/office/drawing/2014/main" id="{4AABAAF1-C15F-40FF-3799-BF7043C1EE5A}"/>
                  </a:ext>
                </a:extLst>
              </p:cNvPr>
              <p:cNvSpPr/>
              <p:nvPr/>
            </p:nvSpPr>
            <p:spPr>
              <a:xfrm rot="10800000" flipH="1" flipV="1">
                <a:off x="631856" y="3548776"/>
                <a:ext cx="298720" cy="235903"/>
              </a:xfrm>
              <a:custGeom>
                <a:avLst/>
                <a:gdLst/>
                <a:ahLst/>
                <a:cxnLst/>
                <a:rect l="l" t="t" r="r" b="b"/>
                <a:pathLst>
                  <a:path w="98375" h="77688">
                    <a:moveTo>
                      <a:pt x="78134" y="0"/>
                    </a:moveTo>
                    <a:lnTo>
                      <a:pt x="98375" y="11757"/>
                    </a:lnTo>
                    <a:cubicBezTo>
                      <a:pt x="89842" y="25251"/>
                      <a:pt x="85427" y="38943"/>
                      <a:pt x="85129" y="52834"/>
                    </a:cubicBezTo>
                    <a:lnTo>
                      <a:pt x="85129" y="77688"/>
                    </a:lnTo>
                    <a:lnTo>
                      <a:pt x="51048" y="77688"/>
                    </a:lnTo>
                    <a:lnTo>
                      <a:pt x="51048" y="55364"/>
                    </a:lnTo>
                    <a:cubicBezTo>
                      <a:pt x="51048" y="46037"/>
                      <a:pt x="53652" y="36090"/>
                      <a:pt x="58861" y="25524"/>
                    </a:cubicBezTo>
                    <a:cubicBezTo>
                      <a:pt x="64070" y="14957"/>
                      <a:pt x="70494" y="6449"/>
                      <a:pt x="78134" y="0"/>
                    </a:cubicBezTo>
                    <a:close/>
                    <a:moveTo>
                      <a:pt x="27086" y="0"/>
                    </a:moveTo>
                    <a:lnTo>
                      <a:pt x="47327" y="11757"/>
                    </a:lnTo>
                    <a:cubicBezTo>
                      <a:pt x="38794" y="25251"/>
                      <a:pt x="34379" y="38943"/>
                      <a:pt x="34081" y="52834"/>
                    </a:cubicBezTo>
                    <a:lnTo>
                      <a:pt x="34081" y="77688"/>
                    </a:lnTo>
                    <a:lnTo>
                      <a:pt x="0" y="77688"/>
                    </a:lnTo>
                    <a:lnTo>
                      <a:pt x="0" y="55364"/>
                    </a:lnTo>
                    <a:cubicBezTo>
                      <a:pt x="0" y="46037"/>
                      <a:pt x="2604" y="36090"/>
                      <a:pt x="7813" y="25524"/>
                    </a:cubicBezTo>
                    <a:cubicBezTo>
                      <a:pt x="13022" y="14957"/>
                      <a:pt x="19446" y="6449"/>
                      <a:pt x="2708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</p:grp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D7C6C6BE-99A3-D24A-BF88-988270FC282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410200" y="177733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498802"/>
      </p:ext>
    </p:extLst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2">
            <a:extLst>
              <a:ext uri="{FF2B5EF4-FFF2-40B4-BE49-F238E27FC236}">
                <a16:creationId xmlns:a16="http://schemas.microsoft.com/office/drawing/2014/main" id="{941CAF20-EE72-A778-4B44-B1757F8CBB64}"/>
              </a:ext>
            </a:extLst>
          </p:cNvPr>
          <p:cNvSpPr/>
          <p:nvPr userDrawn="1"/>
        </p:nvSpPr>
        <p:spPr>
          <a:xfrm flipH="1" flipV="1">
            <a:off x="-6" y="-5"/>
            <a:ext cx="3747063" cy="1290324"/>
          </a:xfrm>
          <a:custGeom>
            <a:avLst/>
            <a:gdLst>
              <a:gd name="connsiteX0" fmla="*/ 1200000 w 3176352"/>
              <a:gd name="connsiteY0" fmla="*/ 0 h 1200000"/>
              <a:gd name="connsiteX1" fmla="*/ 1332327 w 3176352"/>
              <a:gd name="connsiteY1" fmla="*/ 0 h 1200000"/>
              <a:gd name="connsiteX2" fmla="*/ 3176352 w 3176352"/>
              <a:gd name="connsiteY2" fmla="*/ 0 h 1200000"/>
              <a:gd name="connsiteX3" fmla="*/ 3176352 w 3176352"/>
              <a:gd name="connsiteY3" fmla="*/ 1200000 h 1200000"/>
              <a:gd name="connsiteX4" fmla="*/ 0 w 3176352"/>
              <a:gd name="connsiteY4" fmla="*/ 1200000 h 12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76352" h="1200000">
                <a:moveTo>
                  <a:pt x="1200000" y="0"/>
                </a:moveTo>
                <a:lnTo>
                  <a:pt x="1332327" y="0"/>
                </a:lnTo>
                <a:lnTo>
                  <a:pt x="3176352" y="0"/>
                </a:lnTo>
                <a:lnTo>
                  <a:pt x="3176352" y="1200000"/>
                </a:lnTo>
                <a:lnTo>
                  <a:pt x="0" y="1200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36A8669-B186-8FF7-E3DE-94923EEC49A8}"/>
              </a:ext>
            </a:extLst>
          </p:cNvPr>
          <p:cNvGrpSpPr/>
          <p:nvPr userDrawn="1"/>
        </p:nvGrpSpPr>
        <p:grpSpPr>
          <a:xfrm>
            <a:off x="1" y="-9779"/>
            <a:ext cx="12211607" cy="1169323"/>
            <a:chOff x="0" y="133601"/>
            <a:chExt cx="9158705" cy="876992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925A801B-4068-F473-F6FA-B4689D3BA85E}"/>
                </a:ext>
              </a:extLst>
            </p:cNvPr>
            <p:cNvSpPr/>
            <p:nvPr userDrawn="1"/>
          </p:nvSpPr>
          <p:spPr>
            <a:xfrm>
              <a:off x="0" y="133601"/>
              <a:ext cx="6545649" cy="876992"/>
            </a:xfrm>
            <a:custGeom>
              <a:avLst/>
              <a:gdLst>
                <a:gd name="connsiteX0" fmla="*/ 0 w 9005306"/>
                <a:gd name="connsiteY0" fmla="*/ 0 h 1206539"/>
                <a:gd name="connsiteX1" fmla="*/ 9005306 w 9005306"/>
                <a:gd name="connsiteY1" fmla="*/ 0 h 1206539"/>
                <a:gd name="connsiteX2" fmla="*/ 7798768 w 9005306"/>
                <a:gd name="connsiteY2" fmla="*/ 1206539 h 1206539"/>
                <a:gd name="connsiteX3" fmla="*/ 0 w 9005306"/>
                <a:gd name="connsiteY3" fmla="*/ 1206539 h 1206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05306" h="1206539">
                  <a:moveTo>
                    <a:pt x="0" y="0"/>
                  </a:moveTo>
                  <a:lnTo>
                    <a:pt x="9005306" y="0"/>
                  </a:lnTo>
                  <a:lnTo>
                    <a:pt x="7798768" y="1206539"/>
                  </a:lnTo>
                  <a:lnTo>
                    <a:pt x="0" y="1206539"/>
                  </a:lnTo>
                  <a:close/>
                </a:path>
              </a:pathLst>
            </a:custGeom>
            <a:solidFill>
              <a:srgbClr val="006E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86E659EA-39FC-42A2-CA72-7F84036AB274}"/>
                </a:ext>
              </a:extLst>
            </p:cNvPr>
            <p:cNvSpPr/>
            <p:nvPr userDrawn="1"/>
          </p:nvSpPr>
          <p:spPr>
            <a:xfrm>
              <a:off x="6545648" y="133601"/>
              <a:ext cx="2613057" cy="872239"/>
            </a:xfrm>
            <a:custGeom>
              <a:avLst/>
              <a:gdLst>
                <a:gd name="connsiteX0" fmla="*/ 0 w 3735355"/>
                <a:gd name="connsiteY0" fmla="*/ 872239 h 872239"/>
                <a:gd name="connsiteX1" fmla="*/ 878458 w 3735355"/>
                <a:gd name="connsiteY1" fmla="*/ 0 h 872239"/>
                <a:gd name="connsiteX2" fmla="*/ 3735355 w 3735355"/>
                <a:gd name="connsiteY2" fmla="*/ 0 h 872239"/>
                <a:gd name="connsiteX3" fmla="*/ 2856897 w 3735355"/>
                <a:gd name="connsiteY3" fmla="*/ 872239 h 872239"/>
                <a:gd name="connsiteX4" fmla="*/ 0 w 3735355"/>
                <a:gd name="connsiteY4" fmla="*/ 872239 h 872239"/>
                <a:gd name="connsiteX0" fmla="*/ 0 w 2856897"/>
                <a:gd name="connsiteY0" fmla="*/ 872239 h 872239"/>
                <a:gd name="connsiteX1" fmla="*/ 878458 w 2856897"/>
                <a:gd name="connsiteY1" fmla="*/ 0 h 872239"/>
                <a:gd name="connsiteX2" fmla="*/ 2597435 w 2856897"/>
                <a:gd name="connsiteY2" fmla="*/ 30480 h 872239"/>
                <a:gd name="connsiteX3" fmla="*/ 2856897 w 2856897"/>
                <a:gd name="connsiteY3" fmla="*/ 872239 h 872239"/>
                <a:gd name="connsiteX4" fmla="*/ 0 w 2856897"/>
                <a:gd name="connsiteY4" fmla="*/ 872239 h 872239"/>
                <a:gd name="connsiteX0" fmla="*/ 0 w 2613057"/>
                <a:gd name="connsiteY0" fmla="*/ 872239 h 872239"/>
                <a:gd name="connsiteX1" fmla="*/ 878458 w 2613057"/>
                <a:gd name="connsiteY1" fmla="*/ 0 h 872239"/>
                <a:gd name="connsiteX2" fmla="*/ 2597435 w 2613057"/>
                <a:gd name="connsiteY2" fmla="*/ 30480 h 872239"/>
                <a:gd name="connsiteX3" fmla="*/ 2613057 w 2613057"/>
                <a:gd name="connsiteY3" fmla="*/ 862079 h 872239"/>
                <a:gd name="connsiteX4" fmla="*/ 0 w 2613057"/>
                <a:gd name="connsiteY4" fmla="*/ 872239 h 872239"/>
                <a:gd name="connsiteX0" fmla="*/ 0 w 2617755"/>
                <a:gd name="connsiteY0" fmla="*/ 872239 h 872239"/>
                <a:gd name="connsiteX1" fmla="*/ 878458 w 2617755"/>
                <a:gd name="connsiteY1" fmla="*/ 0 h 872239"/>
                <a:gd name="connsiteX2" fmla="*/ 2617755 w 2617755"/>
                <a:gd name="connsiteY2" fmla="*/ 20320 h 872239"/>
                <a:gd name="connsiteX3" fmla="*/ 2613057 w 2617755"/>
                <a:gd name="connsiteY3" fmla="*/ 862079 h 872239"/>
                <a:gd name="connsiteX4" fmla="*/ 0 w 2617755"/>
                <a:gd name="connsiteY4" fmla="*/ 872239 h 872239"/>
                <a:gd name="connsiteX0" fmla="*/ 0 w 2613057"/>
                <a:gd name="connsiteY0" fmla="*/ 872239 h 872239"/>
                <a:gd name="connsiteX1" fmla="*/ 878458 w 2613057"/>
                <a:gd name="connsiteY1" fmla="*/ 0 h 872239"/>
                <a:gd name="connsiteX2" fmla="*/ 2607595 w 2613057"/>
                <a:gd name="connsiteY2" fmla="*/ 0 h 872239"/>
                <a:gd name="connsiteX3" fmla="*/ 2613057 w 2613057"/>
                <a:gd name="connsiteY3" fmla="*/ 862079 h 872239"/>
                <a:gd name="connsiteX4" fmla="*/ 0 w 2613057"/>
                <a:gd name="connsiteY4" fmla="*/ 872239 h 87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3057" h="872239">
                  <a:moveTo>
                    <a:pt x="0" y="872239"/>
                  </a:moveTo>
                  <a:lnTo>
                    <a:pt x="878458" y="0"/>
                  </a:lnTo>
                  <a:lnTo>
                    <a:pt x="2607595" y="0"/>
                  </a:lnTo>
                  <a:cubicBezTo>
                    <a:pt x="2609416" y="287360"/>
                    <a:pt x="2611236" y="574719"/>
                    <a:pt x="2613057" y="862079"/>
                  </a:cubicBezTo>
                  <a:lnTo>
                    <a:pt x="0" y="872239"/>
                  </a:lnTo>
                  <a:close/>
                </a:path>
              </a:pathLst>
            </a:custGeom>
            <a:solidFill>
              <a:srgbClr val="006E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7DE05EC-2409-5C35-8B20-53DE5AD13B35}"/>
              </a:ext>
            </a:extLst>
          </p:cNvPr>
          <p:cNvGrpSpPr/>
          <p:nvPr userDrawn="1"/>
        </p:nvGrpSpPr>
        <p:grpSpPr>
          <a:xfrm>
            <a:off x="389890" y="6132074"/>
            <a:ext cx="11412221" cy="602803"/>
            <a:chOff x="292417" y="4599053"/>
            <a:chExt cx="8559166" cy="45210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1FEBE89-CFE5-65B3-650A-D5B1B3AB2D3D}"/>
                </a:ext>
              </a:extLst>
            </p:cNvPr>
            <p:cNvGrpSpPr/>
            <p:nvPr userDrawn="1"/>
          </p:nvGrpSpPr>
          <p:grpSpPr>
            <a:xfrm>
              <a:off x="292417" y="4599053"/>
              <a:ext cx="8559166" cy="250180"/>
              <a:chOff x="292417" y="4491948"/>
              <a:chExt cx="8559166" cy="250180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A03D3430-8763-6DE6-63D3-547F54271AB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2417" y="4598203"/>
                <a:ext cx="8393344" cy="18835"/>
              </a:xfrm>
              <a:prstGeom prst="line">
                <a:avLst/>
              </a:prstGeom>
              <a:ln>
                <a:solidFill>
                  <a:srgbClr val="006EB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FAD3C87E-882C-3B9F-F67B-72A6FA773CDB}"/>
                  </a:ext>
                </a:extLst>
              </p:cNvPr>
              <p:cNvSpPr/>
              <p:nvPr userDrawn="1"/>
            </p:nvSpPr>
            <p:spPr>
              <a:xfrm>
                <a:off x="8331345" y="4491948"/>
                <a:ext cx="520238" cy="250180"/>
              </a:xfrm>
              <a:prstGeom prst="roundRect">
                <a:avLst/>
              </a:prstGeom>
              <a:solidFill>
                <a:srgbClr val="006EB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4F5A7B5-A3AE-6297-88EB-934C28E43CBE}"/>
                </a:ext>
              </a:extLst>
            </p:cNvPr>
            <p:cNvGrpSpPr/>
            <p:nvPr userDrawn="1"/>
          </p:nvGrpSpPr>
          <p:grpSpPr>
            <a:xfrm>
              <a:off x="292417" y="4735684"/>
              <a:ext cx="5208078" cy="315471"/>
              <a:chOff x="648318" y="3617335"/>
              <a:chExt cx="5208078" cy="315471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8174C11-C320-0E58-A507-F4C5337EA663}"/>
                  </a:ext>
                </a:extLst>
              </p:cNvPr>
              <p:cNvSpPr/>
              <p:nvPr/>
            </p:nvSpPr>
            <p:spPr>
              <a:xfrm>
                <a:off x="814964" y="3617335"/>
                <a:ext cx="5041432" cy="315471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D" sz="1600" b="1" dirty="0">
                    <a:solidFill>
                      <a:srgbClr val="006EB4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UNLOCK YOUR POTENTIAL</a:t>
                </a:r>
              </a:p>
            </p:txBody>
          </p:sp>
          <p:sp>
            <p:nvSpPr>
              <p:cNvPr id="7" name="Freeform 39">
                <a:extLst>
                  <a:ext uri="{FF2B5EF4-FFF2-40B4-BE49-F238E27FC236}">
                    <a16:creationId xmlns:a16="http://schemas.microsoft.com/office/drawing/2014/main" id="{97F964A0-0112-F128-2286-F470F03DF869}"/>
                  </a:ext>
                </a:extLst>
              </p:cNvPr>
              <p:cNvSpPr/>
              <p:nvPr/>
            </p:nvSpPr>
            <p:spPr>
              <a:xfrm rot="10800000" flipH="1" flipV="1">
                <a:off x="648318" y="3661461"/>
                <a:ext cx="192481" cy="152005"/>
              </a:xfrm>
              <a:custGeom>
                <a:avLst/>
                <a:gdLst/>
                <a:ahLst/>
                <a:cxnLst/>
                <a:rect l="l" t="t" r="r" b="b"/>
                <a:pathLst>
                  <a:path w="98375" h="77688">
                    <a:moveTo>
                      <a:pt x="78134" y="0"/>
                    </a:moveTo>
                    <a:lnTo>
                      <a:pt x="98375" y="11757"/>
                    </a:lnTo>
                    <a:cubicBezTo>
                      <a:pt x="89842" y="25251"/>
                      <a:pt x="85427" y="38943"/>
                      <a:pt x="85129" y="52834"/>
                    </a:cubicBezTo>
                    <a:lnTo>
                      <a:pt x="85129" y="77688"/>
                    </a:lnTo>
                    <a:lnTo>
                      <a:pt x="51048" y="77688"/>
                    </a:lnTo>
                    <a:lnTo>
                      <a:pt x="51048" y="55364"/>
                    </a:lnTo>
                    <a:cubicBezTo>
                      <a:pt x="51048" y="46037"/>
                      <a:pt x="53652" y="36090"/>
                      <a:pt x="58861" y="25524"/>
                    </a:cubicBezTo>
                    <a:cubicBezTo>
                      <a:pt x="64070" y="14957"/>
                      <a:pt x="70494" y="6449"/>
                      <a:pt x="78134" y="0"/>
                    </a:cubicBezTo>
                    <a:close/>
                    <a:moveTo>
                      <a:pt x="27086" y="0"/>
                    </a:moveTo>
                    <a:lnTo>
                      <a:pt x="47327" y="11757"/>
                    </a:lnTo>
                    <a:cubicBezTo>
                      <a:pt x="38794" y="25251"/>
                      <a:pt x="34379" y="38943"/>
                      <a:pt x="34081" y="52834"/>
                    </a:cubicBezTo>
                    <a:lnTo>
                      <a:pt x="34081" y="77688"/>
                    </a:lnTo>
                    <a:lnTo>
                      <a:pt x="0" y="77688"/>
                    </a:lnTo>
                    <a:lnTo>
                      <a:pt x="0" y="55364"/>
                    </a:lnTo>
                    <a:cubicBezTo>
                      <a:pt x="0" y="46037"/>
                      <a:pt x="2604" y="36090"/>
                      <a:pt x="7813" y="25524"/>
                    </a:cubicBezTo>
                    <a:cubicBezTo>
                      <a:pt x="13022" y="14957"/>
                      <a:pt x="19446" y="6449"/>
                      <a:pt x="27086" y="0"/>
                    </a:cubicBezTo>
                    <a:close/>
                  </a:path>
                </a:pathLst>
              </a:custGeom>
              <a:solidFill>
                <a:srgbClr val="006E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</p:grp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116A24CD-A0C0-0D46-940D-A4F8F83AB7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54147" y="10499"/>
            <a:ext cx="1097280" cy="10972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175AB2A-6311-D740-8059-778CA8B1268C}"/>
              </a:ext>
            </a:extLst>
          </p:cNvPr>
          <p:cNvSpPr txBox="1"/>
          <p:nvPr userDrawn="1"/>
        </p:nvSpPr>
        <p:spPr>
          <a:xfrm>
            <a:off x="8737600" y="9869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9" name="Freeform 4">
            <a:extLst>
              <a:ext uri="{FF2B5EF4-FFF2-40B4-BE49-F238E27FC236}">
                <a16:creationId xmlns:a16="http://schemas.microsoft.com/office/drawing/2014/main" id="{1B580907-4F56-5448-A07A-C77C50C473B0}"/>
              </a:ext>
            </a:extLst>
          </p:cNvPr>
          <p:cNvSpPr/>
          <p:nvPr userDrawn="1"/>
        </p:nvSpPr>
        <p:spPr>
          <a:xfrm>
            <a:off x="7794382" y="2314"/>
            <a:ext cx="1783459" cy="1169323"/>
          </a:xfrm>
          <a:custGeom>
            <a:avLst/>
            <a:gdLst>
              <a:gd name="connsiteX0" fmla="*/ 1206539 w 1840221"/>
              <a:gd name="connsiteY0" fmla="*/ 0 h 1206539"/>
              <a:gd name="connsiteX1" fmla="*/ 1840221 w 1840221"/>
              <a:gd name="connsiteY1" fmla="*/ 0 h 1206539"/>
              <a:gd name="connsiteX2" fmla="*/ 633682 w 1840221"/>
              <a:gd name="connsiteY2" fmla="*/ 1206539 h 1206539"/>
              <a:gd name="connsiteX3" fmla="*/ 0 w 1840221"/>
              <a:gd name="connsiteY3" fmla="*/ 1206539 h 120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0221" h="1206539">
                <a:moveTo>
                  <a:pt x="1206539" y="0"/>
                </a:moveTo>
                <a:lnTo>
                  <a:pt x="1840221" y="0"/>
                </a:lnTo>
                <a:lnTo>
                  <a:pt x="633682" y="1206539"/>
                </a:lnTo>
                <a:lnTo>
                  <a:pt x="0" y="1206539"/>
                </a:lnTo>
                <a:close/>
              </a:path>
            </a:pathLst>
          </a:custGeom>
          <a:solidFill>
            <a:srgbClr val="006E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15674908"/>
      </p:ext>
    </p:extLst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1_Section 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nip Single Corner Rectangle 45">
            <a:extLst>
              <a:ext uri="{FF2B5EF4-FFF2-40B4-BE49-F238E27FC236}">
                <a16:creationId xmlns:a16="http://schemas.microsoft.com/office/drawing/2014/main" id="{186FA5EC-735A-D293-DEA3-9522622AC00A}"/>
              </a:ext>
            </a:extLst>
          </p:cNvPr>
          <p:cNvSpPr/>
          <p:nvPr userDrawn="1"/>
        </p:nvSpPr>
        <p:spPr>
          <a:xfrm>
            <a:off x="0" y="5008880"/>
            <a:ext cx="12192000" cy="1852507"/>
          </a:xfrm>
          <a:prstGeom prst="snip1Rect">
            <a:avLst>
              <a:gd name="adj" fmla="val 50000"/>
            </a:avLst>
          </a:prstGeom>
          <a:solidFill>
            <a:srgbClr val="006E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00"/>
          </a:p>
        </p:txBody>
      </p:sp>
      <p:sp>
        <p:nvSpPr>
          <p:cNvPr id="18" name="Google Shape;18;p3"/>
          <p:cNvSpPr txBox="1"/>
          <p:nvPr/>
        </p:nvSpPr>
        <p:spPr>
          <a:xfrm>
            <a:off x="2673879" y="2030923"/>
            <a:ext cx="7067760" cy="17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YOU!</a:t>
            </a:r>
            <a:endParaRPr sz="6400" b="1" dirty="0">
              <a:solidFill>
                <a:srgbClr val="0070C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C2782A8-4B15-526E-8872-A7D0AD8CDCE3}"/>
              </a:ext>
            </a:extLst>
          </p:cNvPr>
          <p:cNvGrpSpPr/>
          <p:nvPr userDrawn="1"/>
        </p:nvGrpSpPr>
        <p:grpSpPr>
          <a:xfrm>
            <a:off x="7046848" y="6172759"/>
            <a:ext cx="7082325" cy="624227"/>
            <a:chOff x="5285136" y="4310323"/>
            <a:chExt cx="5311744" cy="468170"/>
          </a:xfrm>
        </p:grpSpPr>
        <p:sp>
          <p:nvSpPr>
            <p:cNvPr id="14" name="Freeform 39">
              <a:extLst>
                <a:ext uri="{FF2B5EF4-FFF2-40B4-BE49-F238E27FC236}">
                  <a16:creationId xmlns:a16="http://schemas.microsoft.com/office/drawing/2014/main" id="{5D55375A-9693-86C7-5679-E8346D72DCE3}"/>
                </a:ext>
              </a:extLst>
            </p:cNvPr>
            <p:cNvSpPr/>
            <p:nvPr userDrawn="1"/>
          </p:nvSpPr>
          <p:spPr>
            <a:xfrm rot="10800000" flipH="1" flipV="1">
              <a:off x="6138862" y="4658911"/>
              <a:ext cx="151425" cy="119582"/>
            </a:xfrm>
            <a:custGeom>
              <a:avLst/>
              <a:gdLst/>
              <a:ahLst/>
              <a:cxnLst/>
              <a:rect l="l" t="t" r="r" b="b"/>
              <a:pathLst>
                <a:path w="98375" h="77688">
                  <a:moveTo>
                    <a:pt x="78134" y="0"/>
                  </a:moveTo>
                  <a:lnTo>
                    <a:pt x="98375" y="11757"/>
                  </a:lnTo>
                  <a:cubicBezTo>
                    <a:pt x="89842" y="25251"/>
                    <a:pt x="85427" y="38943"/>
                    <a:pt x="85129" y="52834"/>
                  </a:cubicBezTo>
                  <a:lnTo>
                    <a:pt x="85129" y="77688"/>
                  </a:lnTo>
                  <a:lnTo>
                    <a:pt x="51048" y="77688"/>
                  </a:lnTo>
                  <a:lnTo>
                    <a:pt x="51048" y="55364"/>
                  </a:lnTo>
                  <a:cubicBezTo>
                    <a:pt x="51048" y="46037"/>
                    <a:pt x="53652" y="36090"/>
                    <a:pt x="58861" y="25524"/>
                  </a:cubicBezTo>
                  <a:cubicBezTo>
                    <a:pt x="64070" y="14957"/>
                    <a:pt x="70494" y="6449"/>
                    <a:pt x="78134" y="0"/>
                  </a:cubicBezTo>
                  <a:close/>
                  <a:moveTo>
                    <a:pt x="27086" y="0"/>
                  </a:moveTo>
                  <a:lnTo>
                    <a:pt x="47327" y="11757"/>
                  </a:lnTo>
                  <a:cubicBezTo>
                    <a:pt x="38794" y="25251"/>
                    <a:pt x="34379" y="38943"/>
                    <a:pt x="34081" y="52834"/>
                  </a:cubicBezTo>
                  <a:lnTo>
                    <a:pt x="34081" y="77688"/>
                  </a:lnTo>
                  <a:lnTo>
                    <a:pt x="0" y="77688"/>
                  </a:lnTo>
                  <a:lnTo>
                    <a:pt x="0" y="55364"/>
                  </a:lnTo>
                  <a:cubicBezTo>
                    <a:pt x="0" y="46037"/>
                    <a:pt x="2604" y="36090"/>
                    <a:pt x="7813" y="25524"/>
                  </a:cubicBezTo>
                  <a:cubicBezTo>
                    <a:pt x="13022" y="14957"/>
                    <a:pt x="19446" y="6449"/>
                    <a:pt x="27086" y="0"/>
                  </a:cubicBezTo>
                  <a:close/>
                </a:path>
              </a:pathLst>
            </a:custGeom>
            <a:solidFill>
              <a:srgbClr val="006E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768187A-8FDF-04A4-FE50-76292AC8F512}"/>
                </a:ext>
              </a:extLst>
            </p:cNvPr>
            <p:cNvGrpSpPr/>
            <p:nvPr userDrawn="1"/>
          </p:nvGrpSpPr>
          <p:grpSpPr>
            <a:xfrm>
              <a:off x="5285136" y="4310323"/>
              <a:ext cx="5311744" cy="404831"/>
              <a:chOff x="631856" y="3548776"/>
              <a:chExt cx="5311744" cy="404831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5D636EF-2D68-0C29-0004-980146B9F438}"/>
                  </a:ext>
                </a:extLst>
              </p:cNvPr>
              <p:cNvSpPr/>
              <p:nvPr/>
            </p:nvSpPr>
            <p:spPr>
              <a:xfrm>
                <a:off x="902168" y="3638136"/>
                <a:ext cx="5041432" cy="315471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D" sz="1600" b="1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UNLOCK YOUR POTENTIAL</a:t>
                </a:r>
              </a:p>
            </p:txBody>
          </p:sp>
          <p:sp>
            <p:nvSpPr>
              <p:cNvPr id="24" name="Freeform 39">
                <a:extLst>
                  <a:ext uri="{FF2B5EF4-FFF2-40B4-BE49-F238E27FC236}">
                    <a16:creationId xmlns:a16="http://schemas.microsoft.com/office/drawing/2014/main" id="{4FAB6002-AC9E-C436-D902-7F28A625870B}"/>
                  </a:ext>
                </a:extLst>
              </p:cNvPr>
              <p:cNvSpPr/>
              <p:nvPr/>
            </p:nvSpPr>
            <p:spPr>
              <a:xfrm rot="10800000" flipH="1" flipV="1">
                <a:off x="631856" y="3548776"/>
                <a:ext cx="298720" cy="235903"/>
              </a:xfrm>
              <a:custGeom>
                <a:avLst/>
                <a:gdLst/>
                <a:ahLst/>
                <a:cxnLst/>
                <a:rect l="l" t="t" r="r" b="b"/>
                <a:pathLst>
                  <a:path w="98375" h="77688">
                    <a:moveTo>
                      <a:pt x="78134" y="0"/>
                    </a:moveTo>
                    <a:lnTo>
                      <a:pt x="98375" y="11757"/>
                    </a:lnTo>
                    <a:cubicBezTo>
                      <a:pt x="89842" y="25251"/>
                      <a:pt x="85427" y="38943"/>
                      <a:pt x="85129" y="52834"/>
                    </a:cubicBezTo>
                    <a:lnTo>
                      <a:pt x="85129" y="77688"/>
                    </a:lnTo>
                    <a:lnTo>
                      <a:pt x="51048" y="77688"/>
                    </a:lnTo>
                    <a:lnTo>
                      <a:pt x="51048" y="55364"/>
                    </a:lnTo>
                    <a:cubicBezTo>
                      <a:pt x="51048" y="46037"/>
                      <a:pt x="53652" y="36090"/>
                      <a:pt x="58861" y="25524"/>
                    </a:cubicBezTo>
                    <a:cubicBezTo>
                      <a:pt x="64070" y="14957"/>
                      <a:pt x="70494" y="6449"/>
                      <a:pt x="78134" y="0"/>
                    </a:cubicBezTo>
                    <a:close/>
                    <a:moveTo>
                      <a:pt x="27086" y="0"/>
                    </a:moveTo>
                    <a:lnTo>
                      <a:pt x="47327" y="11757"/>
                    </a:lnTo>
                    <a:cubicBezTo>
                      <a:pt x="38794" y="25251"/>
                      <a:pt x="34379" y="38943"/>
                      <a:pt x="34081" y="52834"/>
                    </a:cubicBezTo>
                    <a:lnTo>
                      <a:pt x="34081" y="77688"/>
                    </a:lnTo>
                    <a:lnTo>
                      <a:pt x="0" y="77688"/>
                    </a:lnTo>
                    <a:lnTo>
                      <a:pt x="0" y="55364"/>
                    </a:lnTo>
                    <a:cubicBezTo>
                      <a:pt x="0" y="46037"/>
                      <a:pt x="2604" y="36090"/>
                      <a:pt x="7813" y="25524"/>
                    </a:cubicBezTo>
                    <a:cubicBezTo>
                      <a:pt x="13022" y="14957"/>
                      <a:pt x="19446" y="6449"/>
                      <a:pt x="2708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</p:grp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D4E42A03-7CAB-5041-8E86-71804D5F4A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79553" y="98938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694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 preserve="1" userDrawn="1">
  <p:cSld name="Section title and 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 dirty="0"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189" lvl="0" indent="-342891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377" lvl="1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566" lvl="2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754" lvl="3" indent="-317492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5943" lvl="4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131" lvl="5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320" lvl="6" indent="-317492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509" lvl="7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697" lvl="8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11296612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52468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 preserve="1">
  <p:cSld name="Ca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189" lvl="0" indent="-22859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11296612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" name="Freeform 56">
            <a:extLst>
              <a:ext uri="{FF2B5EF4-FFF2-40B4-BE49-F238E27FC236}">
                <a16:creationId xmlns:a16="http://schemas.microsoft.com/office/drawing/2014/main" id="{A88AFCD0-A68E-7040-94AE-0D1BA75F2DAC}"/>
              </a:ext>
            </a:extLst>
          </p:cNvPr>
          <p:cNvSpPr/>
          <p:nvPr userDrawn="1"/>
        </p:nvSpPr>
        <p:spPr>
          <a:xfrm>
            <a:off x="13749927" y="-138973"/>
            <a:ext cx="1236139" cy="4509700"/>
          </a:xfrm>
          <a:custGeom>
            <a:avLst/>
            <a:gdLst>
              <a:gd name="connsiteX0" fmla="*/ 0 w 1236138"/>
              <a:gd name="connsiteY0" fmla="*/ 0 h 4509697"/>
              <a:gd name="connsiteX1" fmla="*/ 1236138 w 1236138"/>
              <a:gd name="connsiteY1" fmla="*/ 0 h 4509697"/>
              <a:gd name="connsiteX2" fmla="*/ 1236138 w 1236138"/>
              <a:gd name="connsiteY2" fmla="*/ 4509697 h 4509697"/>
              <a:gd name="connsiteX3" fmla="*/ 0 w 1236138"/>
              <a:gd name="connsiteY3" fmla="*/ 3273558 h 450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6138" h="4509697">
                <a:moveTo>
                  <a:pt x="0" y="0"/>
                </a:moveTo>
                <a:lnTo>
                  <a:pt x="1236138" y="0"/>
                </a:lnTo>
                <a:lnTo>
                  <a:pt x="1236138" y="4509697"/>
                </a:lnTo>
                <a:lnTo>
                  <a:pt x="0" y="3273558"/>
                </a:lnTo>
                <a:close/>
              </a:path>
            </a:pathLst>
          </a:custGeom>
          <a:solidFill>
            <a:srgbClr val="006E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00"/>
          </a:p>
        </p:txBody>
      </p:sp>
      <p:sp>
        <p:nvSpPr>
          <p:cNvPr id="3" name="Freeform 48">
            <a:extLst>
              <a:ext uri="{FF2B5EF4-FFF2-40B4-BE49-F238E27FC236}">
                <a16:creationId xmlns:a16="http://schemas.microsoft.com/office/drawing/2014/main" id="{43477F39-1BBD-F526-40AC-2BC60882E79F}"/>
              </a:ext>
            </a:extLst>
          </p:cNvPr>
          <p:cNvSpPr/>
          <p:nvPr userDrawn="1"/>
        </p:nvSpPr>
        <p:spPr>
          <a:xfrm>
            <a:off x="13326852" y="1166085"/>
            <a:ext cx="2335701" cy="2335703"/>
          </a:xfrm>
          <a:custGeom>
            <a:avLst/>
            <a:gdLst>
              <a:gd name="connsiteX0" fmla="*/ 0 w 2335701"/>
              <a:gd name="connsiteY0" fmla="*/ 0 h 2335702"/>
              <a:gd name="connsiteX1" fmla="*/ 377708 w 2335701"/>
              <a:gd name="connsiteY1" fmla="*/ 0 h 2335702"/>
              <a:gd name="connsiteX2" fmla="*/ 2335701 w 2335701"/>
              <a:gd name="connsiteY2" fmla="*/ 1957994 h 2335702"/>
              <a:gd name="connsiteX3" fmla="*/ 2335701 w 2335701"/>
              <a:gd name="connsiteY3" fmla="*/ 2335702 h 2335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5701" h="2335702">
                <a:moveTo>
                  <a:pt x="0" y="0"/>
                </a:moveTo>
                <a:lnTo>
                  <a:pt x="377708" y="0"/>
                </a:lnTo>
                <a:lnTo>
                  <a:pt x="2335701" y="1957994"/>
                </a:lnTo>
                <a:lnTo>
                  <a:pt x="2335701" y="233570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00"/>
          </a:p>
        </p:txBody>
      </p:sp>
      <p:sp>
        <p:nvSpPr>
          <p:cNvPr id="4" name="Freeform 53">
            <a:extLst>
              <a:ext uri="{FF2B5EF4-FFF2-40B4-BE49-F238E27FC236}">
                <a16:creationId xmlns:a16="http://schemas.microsoft.com/office/drawing/2014/main" id="{81B0EF1A-E1FD-FBF6-7FBC-E6508427A12F}"/>
              </a:ext>
            </a:extLst>
          </p:cNvPr>
          <p:cNvSpPr/>
          <p:nvPr userDrawn="1"/>
        </p:nvSpPr>
        <p:spPr>
          <a:xfrm>
            <a:off x="12547601" y="-1266391"/>
            <a:ext cx="1236139" cy="1608772"/>
          </a:xfrm>
          <a:custGeom>
            <a:avLst/>
            <a:gdLst>
              <a:gd name="connsiteX0" fmla="*/ 0 w 1236138"/>
              <a:gd name="connsiteY0" fmla="*/ 0 h 1608771"/>
              <a:gd name="connsiteX1" fmla="*/ 5076 w 1236138"/>
              <a:gd name="connsiteY1" fmla="*/ 0 h 1608771"/>
              <a:gd name="connsiteX2" fmla="*/ 1236138 w 1236138"/>
              <a:gd name="connsiteY2" fmla="*/ 1231063 h 1608771"/>
              <a:gd name="connsiteX3" fmla="*/ 1236138 w 1236138"/>
              <a:gd name="connsiteY3" fmla="*/ 1608771 h 1608771"/>
              <a:gd name="connsiteX4" fmla="*/ 0 w 1236138"/>
              <a:gd name="connsiteY4" fmla="*/ 372632 h 160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38" h="1608771">
                <a:moveTo>
                  <a:pt x="0" y="0"/>
                </a:moveTo>
                <a:lnTo>
                  <a:pt x="5076" y="0"/>
                </a:lnTo>
                <a:lnTo>
                  <a:pt x="1236138" y="1231063"/>
                </a:lnTo>
                <a:lnTo>
                  <a:pt x="1236138" y="1608771"/>
                </a:lnTo>
                <a:lnTo>
                  <a:pt x="0" y="372632"/>
                </a:lnTo>
                <a:close/>
              </a:path>
            </a:pathLst>
          </a:custGeom>
          <a:solidFill>
            <a:srgbClr val="BE96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0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1377B5-6D47-6694-65A6-874DF1FD30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760" b="7353"/>
          <a:stretch/>
        </p:blipFill>
        <p:spPr>
          <a:xfrm>
            <a:off x="8503062" y="4065496"/>
            <a:ext cx="7159492" cy="425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681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 preserve="1" userDrawn="1">
  <p:cSld name="Big 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595867" y="3139633"/>
            <a:ext cx="11360800" cy="33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189" lvl="0" indent="-342891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377" lvl="1" indent="-317492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566" lvl="2" indent="-31749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754" lvl="3" indent="-317492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5943" lvl="4" indent="-317492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131" lvl="5" indent="-31749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320" lvl="6" indent="-317492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509" lvl="7" indent="-317492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697" lvl="8" indent="-31749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11296612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63901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394BA-5D45-2846-9EC3-770DFE0E1F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E97180-A75E-5249-A614-FBEDAC6F0E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66108-FC60-9542-ACF1-C0CCE03D2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197D0-686E-054A-831F-F95C7E9CD7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6043D-85CB-0F46-8203-65F8DE5F9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53177-CE91-A440-82F4-E1532547D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8DF6D-9EF6-DB49-AD1D-6B830ABE6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897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61CB3-4EBA-5B43-B7FD-40AACB5B63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D197D0-686E-054A-831F-F95C7E9CD7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F2F93-1561-8641-9BB2-2CD669BCE1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DD35B-B1E8-A54B-B8AB-B74138268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C8DF6D-9EF6-DB49-AD1D-6B830ABE6C0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Google Shape;7;p1">
            <a:extLst>
              <a:ext uri="{FF2B5EF4-FFF2-40B4-BE49-F238E27FC236}">
                <a16:creationId xmlns:a16="http://schemas.microsoft.com/office/drawing/2014/main" id="{DBF938AF-EA14-4C4A-85B9-52C0BA9647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62751" y="1152475"/>
            <a:ext cx="5769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6506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4" r:id="rId4"/>
    <p:sldLayoutId id="2147483665" r:id="rId5"/>
    <p:sldLayoutId id="2147483666" r:id="rId6"/>
    <p:sldLayoutId id="2147483667" r:id="rId7"/>
    <p:sldLayoutId id="2147483649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E689F2A-549A-DB45-8D22-E70CD59FC9D8}"/>
              </a:ext>
            </a:extLst>
          </p:cNvPr>
          <p:cNvSpPr/>
          <p:nvPr/>
        </p:nvSpPr>
        <p:spPr>
          <a:xfrm>
            <a:off x="655046" y="1943390"/>
            <a:ext cx="6155211" cy="1731243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5400" b="1" dirty="0">
                <a:ln w="0"/>
                <a:solidFill>
                  <a:srgbClr val="006EB4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Basic</a:t>
            </a:r>
          </a:p>
          <a:p>
            <a:pPr algn="ctr"/>
            <a:r>
              <a:rPr lang="en-US" sz="5400" b="1" dirty="0">
                <a:ln w="0"/>
                <a:solidFill>
                  <a:srgbClr val="006EB4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Web Development</a:t>
            </a:r>
          </a:p>
        </p:txBody>
      </p:sp>
      <p:pic>
        <p:nvPicPr>
          <p:cNvPr id="25604" name="Picture 4" descr="Discover the Differences Between HTML, CSS, and Javascript - Golden Owl">
            <a:extLst>
              <a:ext uri="{FF2B5EF4-FFF2-40B4-BE49-F238E27FC236}">
                <a16:creationId xmlns:a16="http://schemas.microsoft.com/office/drawing/2014/main" id="{8B87253D-B88F-B14E-88DE-8741E30A8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012" y="1772356"/>
            <a:ext cx="3067801" cy="2929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4823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B6143B-764A-B148-942F-5DB09C83945C}"/>
              </a:ext>
            </a:extLst>
          </p:cNvPr>
          <p:cNvSpPr/>
          <p:nvPr/>
        </p:nvSpPr>
        <p:spPr>
          <a:xfrm>
            <a:off x="3130575" y="2778822"/>
            <a:ext cx="5930855" cy="1300356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80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JAVASCRIPT</a:t>
            </a:r>
          </a:p>
        </p:txBody>
      </p:sp>
    </p:spTree>
    <p:extLst>
      <p:ext uri="{BB962C8B-B14F-4D97-AF65-F5344CB8AC3E}">
        <p14:creationId xmlns:p14="http://schemas.microsoft.com/office/powerpoint/2010/main" val="2962951955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3D0012-B18F-154D-86AC-305ADF41ADD6}"/>
              </a:ext>
            </a:extLst>
          </p:cNvPr>
          <p:cNvSpPr txBox="1"/>
          <p:nvPr/>
        </p:nvSpPr>
        <p:spPr>
          <a:xfrm>
            <a:off x="436755" y="1602671"/>
            <a:ext cx="6369290" cy="1673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Javascript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 is programming language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អាចធ្វើអោយ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ចលនា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 Interactive  and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ភាពប្រែប្រួល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 dynamic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Javascript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ដំណើរការនៅលើ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 Browser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F46A7D-09C5-2946-9EDD-BBC2AB4A1A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3242" y="3726797"/>
            <a:ext cx="2173111" cy="2173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57C12ED-6B70-334C-B684-0B75F205CECC}"/>
              </a:ext>
            </a:extLst>
          </p:cNvPr>
          <p:cNvSpPr/>
          <p:nvPr/>
        </p:nvSpPr>
        <p:spPr>
          <a:xfrm>
            <a:off x="436755" y="260705"/>
            <a:ext cx="3384901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1. Introduction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9236B4-78BC-924A-BDAE-D0FC397914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050" y="4449793"/>
            <a:ext cx="4466249" cy="1673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933247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3D0012-B18F-154D-86AC-305ADF41ADD6}"/>
              </a:ext>
            </a:extLst>
          </p:cNvPr>
          <p:cNvSpPr txBox="1"/>
          <p:nvPr/>
        </p:nvSpPr>
        <p:spPr>
          <a:xfrm>
            <a:off x="436755" y="1602671"/>
            <a:ext cx="6369290" cy="1673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200000"/>
              </a:lnSpc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1.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ធ្វើ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អន្តកម្មលើ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 website</a:t>
            </a:r>
          </a:p>
          <a:p>
            <a:pPr fontAlgn="base">
              <a:lnSpc>
                <a:spcPct val="200000"/>
              </a:lnSpc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2.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Fullstack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ធ្វើapplication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ដោយប្រើjavascript</a:t>
            </a:r>
            <a:endParaRPr lang="en-US" dirty="0">
              <a:solidFill>
                <a:srgbClr val="252525"/>
              </a:solidFill>
              <a:latin typeface="Roboto" panose="02000000000000000000" pitchFamily="2" charset="0"/>
              <a:cs typeface="Khmer OS Siemreap" panose="02000500000000020004" pitchFamily="2" charset="77"/>
            </a:endParaRPr>
          </a:p>
          <a:p>
            <a:pPr fontAlgn="base">
              <a:lnSpc>
                <a:spcPct val="200000"/>
              </a:lnSpc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3.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ធ្វើ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 Cross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platfrom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 (Mobile, Desktop)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DCDD90-A061-3D41-B61C-8BE692A137D2}"/>
              </a:ext>
            </a:extLst>
          </p:cNvPr>
          <p:cNvSpPr/>
          <p:nvPr/>
        </p:nvSpPr>
        <p:spPr>
          <a:xfrm>
            <a:off x="436755" y="260705"/>
            <a:ext cx="3420232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Why </a:t>
            </a:r>
            <a:r>
              <a:rPr lang="en-US" sz="3600" b="1" dirty="0" err="1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Javascript</a:t>
            </a:r>
            <a:endParaRPr lang="en-US" sz="3600" b="1" dirty="0">
              <a:ln w="0"/>
              <a:solidFill>
                <a:schemeClr val="bg1"/>
              </a:solidFill>
              <a:latin typeface="Aptos Black" panose="020B0004020202020204" pitchFamily="34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What is JavaScript Used For? 10 Core Uses | DistantJob - Remote Recruitment  Agency">
            <a:extLst>
              <a:ext uri="{FF2B5EF4-FFF2-40B4-BE49-F238E27FC236}">
                <a16:creationId xmlns:a16="http://schemas.microsoft.com/office/drawing/2014/main" id="{3F465CA0-8AD2-334F-9EEC-51DD4922B6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7883" y="2187615"/>
            <a:ext cx="5900610" cy="396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919981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3D0012-B18F-154D-86AC-305ADF41ADD6}"/>
              </a:ext>
            </a:extLst>
          </p:cNvPr>
          <p:cNvSpPr txBox="1"/>
          <p:nvPr/>
        </p:nvSpPr>
        <p:spPr>
          <a:xfrm>
            <a:off x="436755" y="1602671"/>
            <a:ext cx="6369290" cy="2227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នៅពេលដែល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 User click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អោយវាធ្វើសកម្មភាពផ្សេង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ៗ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ទាញយក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និងបង្ហាញ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ទិន្ន័យ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ដែលបានមកពី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 Server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ធ្វើអោយ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 Content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នៃ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 website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មានភាពរស់រវើក</a:t>
            </a:r>
            <a:endParaRPr lang="en-US" dirty="0">
              <a:solidFill>
                <a:srgbClr val="252525"/>
              </a:solidFill>
              <a:latin typeface="Roboto" panose="02000000000000000000" pitchFamily="2" charset="0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ផ្ញើ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 Data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ពី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 client side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ទៅកាន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់ Server side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DCDD90-A061-3D41-B61C-8BE692A137D2}"/>
              </a:ext>
            </a:extLst>
          </p:cNvPr>
          <p:cNvSpPr/>
          <p:nvPr/>
        </p:nvSpPr>
        <p:spPr>
          <a:xfrm>
            <a:off x="436755" y="260705"/>
            <a:ext cx="4641079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1. Attractive website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D40184-9F02-7547-BB2F-C5D073E84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801" y="3090440"/>
            <a:ext cx="4547092" cy="287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374559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5769208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2. Full stack development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3D0012-B18F-154D-86AC-305ADF41ADD6}"/>
              </a:ext>
            </a:extLst>
          </p:cNvPr>
          <p:cNvSpPr txBox="1"/>
          <p:nvPr/>
        </p:nvSpPr>
        <p:spPr>
          <a:xfrm>
            <a:off x="436755" y="1602671"/>
            <a:ext cx="6369290" cy="445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Javascript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​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អាចធ្វើជា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 Frontend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រឺក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៏</a:t>
            </a:r>
            <a:r>
              <a:rPr lang="zh-CN" alt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 </a:t>
            </a:r>
            <a:r>
              <a:rPr lang="en-US" altLang="zh-CN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Backend </a:t>
            </a:r>
            <a:r>
              <a:rPr lang="en-US" altLang="zh-CN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ក៏បាន</a:t>
            </a:r>
            <a:endParaRPr lang="en-US" altLang="zh-CN" dirty="0">
              <a:solidFill>
                <a:srgbClr val="252525"/>
              </a:solidFill>
              <a:latin typeface="Roboto" panose="02000000000000000000" pitchFamily="2" charset="0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Frontend (client side)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ជាកន្លែងសម្រាប់បង្ហាញនូវព័ត៏អោយយើងមើលឃើញ</a:t>
            </a:r>
            <a:endParaRPr lang="en-US" dirty="0">
              <a:solidFill>
                <a:srgbClr val="252525"/>
              </a:solidFill>
              <a:latin typeface="Roboto" panose="02000000000000000000" pitchFamily="2" charset="0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Backend (server side)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ជាកន្លែងសម្រាប់សរសេរ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នូវ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 Business Logic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នឹងធ្វើការជាមួយ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 Database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Database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ជាកន្លែងសម្រាប់រក្សាទុកនូវ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 Data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highlight>
                  <a:srgbClr val="FFFF00"/>
                </a:highlight>
                <a:latin typeface="Roboto" panose="02000000000000000000" pitchFamily="2" charset="0"/>
                <a:cs typeface="Khmer OS Siemreap" panose="02000500000000020004" pitchFamily="2" charset="77"/>
              </a:rPr>
              <a:t>NodeJS </a:t>
            </a:r>
            <a:r>
              <a:rPr lang="en-US" dirty="0" err="1">
                <a:solidFill>
                  <a:srgbClr val="252525"/>
                </a:solidFill>
                <a:highlight>
                  <a:srgbClr val="FFFF00"/>
                </a:highlight>
                <a:latin typeface="Roboto" panose="02000000000000000000" pitchFamily="2" charset="0"/>
                <a:cs typeface="Khmer OS Siemreap" panose="02000500000000020004" pitchFamily="2" charset="77"/>
              </a:rPr>
              <a:t>អនុញ្ញាតអោយយើងសរសេរកូដខាងក្រៅ</a:t>
            </a:r>
            <a:r>
              <a:rPr lang="en-US" dirty="0">
                <a:solidFill>
                  <a:srgbClr val="252525"/>
                </a:solidFill>
                <a:highlight>
                  <a:srgbClr val="FFFF00"/>
                </a:highlight>
                <a:latin typeface="Roboto" panose="02000000000000000000" pitchFamily="2" charset="0"/>
                <a:cs typeface="Khmer OS Siemreap" panose="02000500000000020004" pitchFamily="2" charset="77"/>
              </a:rPr>
              <a:t> Browser </a:t>
            </a:r>
            <a:r>
              <a:rPr lang="en-US" dirty="0" err="1">
                <a:solidFill>
                  <a:srgbClr val="252525"/>
                </a:solidFill>
                <a:highlight>
                  <a:srgbClr val="FFFF00"/>
                </a:highlight>
                <a:latin typeface="Roboto" panose="02000000000000000000" pitchFamily="2" charset="0"/>
                <a:cs typeface="Khmer OS Siemreap" panose="02000500000000020004" pitchFamily="2" charset="77"/>
              </a:rPr>
              <a:t>តែអាចធ្វើការលើclient</a:t>
            </a:r>
            <a:r>
              <a:rPr lang="en-US" dirty="0">
                <a:solidFill>
                  <a:srgbClr val="252525"/>
                </a:solidFill>
                <a:highlight>
                  <a:srgbClr val="FFFF00"/>
                </a:highlight>
                <a:latin typeface="Roboto" panose="02000000000000000000" pitchFamily="2" charset="0"/>
                <a:cs typeface="Khmer OS Siemreap" panose="02000500000000020004" pitchFamily="2" charset="77"/>
              </a:rPr>
              <a:t> and server side</a:t>
            </a:r>
          </a:p>
        </p:txBody>
      </p:sp>
      <p:pic>
        <p:nvPicPr>
          <p:cNvPr id="2050" name="Picture 2" descr="Guide] Building Data Science Web Application with React, NodeJS, and MySQL  - Perth Ngarmtrakulchol">
            <a:extLst>
              <a:ext uri="{FF2B5EF4-FFF2-40B4-BE49-F238E27FC236}">
                <a16:creationId xmlns:a16="http://schemas.microsoft.com/office/drawing/2014/main" id="{B71CC25C-E751-BB4F-B154-40D840405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7741" y="2946400"/>
            <a:ext cx="4518136" cy="3020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7749067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3920625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3. Cross platform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3D0012-B18F-154D-86AC-305ADF41ADD6}"/>
              </a:ext>
            </a:extLst>
          </p:cNvPr>
          <p:cNvSpPr txBox="1"/>
          <p:nvPr/>
        </p:nvSpPr>
        <p:spPr>
          <a:xfrm>
            <a:off x="436755" y="1602671"/>
            <a:ext cx="6369290" cy="2227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Javascript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​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អាចធ្វើ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 Mobile (IOS &amp;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Andriod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), Web, Desktop Application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React Native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Electron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AEB3DA-BFA2-5C45-88B9-6A22C992D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2612" y="2567241"/>
            <a:ext cx="4503838" cy="3312853"/>
          </a:xfrm>
          <a:prstGeom prst="rect">
            <a:avLst/>
          </a:prstGeom>
        </p:spPr>
      </p:pic>
      <p:pic>
        <p:nvPicPr>
          <p:cNvPr id="4098" name="Picture 2" descr="Using React Native for cross platform app development">
            <a:extLst>
              <a:ext uri="{FF2B5EF4-FFF2-40B4-BE49-F238E27FC236}">
                <a16:creationId xmlns:a16="http://schemas.microsoft.com/office/drawing/2014/main" id="{4E4135D4-385F-DD42-A1B3-AF9BD77C0D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067" y="3497458"/>
            <a:ext cx="4288873" cy="237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8627740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3734420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 err="1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Javascript</a:t>
            </a:r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 Demo</a:t>
            </a:r>
          </a:p>
        </p:txBody>
      </p:sp>
      <p:pic>
        <p:nvPicPr>
          <p:cNvPr id="5122" name="Picture 2" descr="It's Demo (Mentality) Time ! I've been working recently with a few startups  that adopted a very aggressive Demo Mentality. It started in the last 6-12  months due to the market situation">
            <a:extLst>
              <a:ext uri="{FF2B5EF4-FFF2-40B4-BE49-F238E27FC236}">
                <a16:creationId xmlns:a16="http://schemas.microsoft.com/office/drawing/2014/main" id="{44BCD2B5-D459-1C4C-9C14-4ED07B4D02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1656" y="1875098"/>
            <a:ext cx="6308688" cy="3543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0606293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2144818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2. Syntax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3D0012-B18F-154D-86AC-305ADF41ADD6}"/>
              </a:ext>
            </a:extLst>
          </p:cNvPr>
          <p:cNvSpPr txBox="1"/>
          <p:nvPr/>
        </p:nvSpPr>
        <p:spPr>
          <a:xfrm>
            <a:off x="436755" y="1602671"/>
            <a:ext cx="4999949" cy="2227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Javascript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 is case-sensitive language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Statement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ចប់ដោយ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semicolon ( ; )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ប្រើ { } សម្រាប់ប្លុកកូដ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rgbClr val="252525"/>
              </a:solidFill>
              <a:latin typeface="Roboto" panose="02000000000000000000" pitchFamily="2" charset="0"/>
              <a:cs typeface="Khmer OS Siemreap" panose="02000500000000020004" pitchFamily="2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938041-0F00-3043-93F4-12AE01F1F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9781" y="4394778"/>
            <a:ext cx="2827482" cy="122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434916"/>
      </p:ext>
    </p:extLst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5667001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3. Add JavaScript to HTML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F616EB-1E8C-1847-975A-72A2465B03E3}"/>
              </a:ext>
            </a:extLst>
          </p:cNvPr>
          <p:cNvSpPr txBox="1"/>
          <p:nvPr/>
        </p:nvSpPr>
        <p:spPr>
          <a:xfrm>
            <a:off x="961705" y="1929434"/>
            <a:ext cx="6398557" cy="2239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Inline Script →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នៅក្នុង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tag HTML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Internal Script →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នៅក្នុង &lt;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script&gt;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External Script →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តភ្ជាប់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file .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js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ខាងក្រៅ</a:t>
            </a:r>
          </a:p>
          <a:p>
            <a:pPr marL="285750" indent="-285750" rtl="0" fontAlgn="base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b="0" i="0" u="none" strike="noStrike" dirty="0">
              <a:effectLst/>
              <a:latin typeface="Khmer OS Siemreap" panose="02000500000000020004" pitchFamily="2" charset="77"/>
              <a:cs typeface="Khmer OS Siemreap" panose="02000500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51213353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3916137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4. Display Output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F616EB-1E8C-1847-975A-72A2465B03E3}"/>
              </a:ext>
            </a:extLst>
          </p:cNvPr>
          <p:cNvSpPr txBox="1"/>
          <p:nvPr/>
        </p:nvSpPr>
        <p:spPr>
          <a:xfrm>
            <a:off x="747607" y="2002512"/>
            <a:ext cx="6398557" cy="2239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alert() →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បង្ហាញប្រអប់សារ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console.log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() →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បង្ហាញលទ្ធផលក្នុង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Console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document.write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() →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សរសេរទៅលើ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HTML</a:t>
            </a:r>
          </a:p>
          <a:p>
            <a:pPr marL="285750" indent="-285750" rtl="0" fontAlgn="base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b="0" i="0" u="none" strike="noStrike" dirty="0">
              <a:effectLst/>
              <a:latin typeface="Khmer OS Siemreap" panose="02000500000000020004" pitchFamily="2" charset="77"/>
              <a:cs typeface="Khmer OS Siemreap" panose="02000500000000020004" pitchFamily="2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52BE-19FF-2046-90FC-AAA070D92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5106" y="1690442"/>
            <a:ext cx="2768348" cy="101119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6EAE05-6BDE-DB4A-BD66-25446DF0B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4156365"/>
            <a:ext cx="5837413" cy="14349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8366748"/>
      </p:ext>
    </p:extLst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2458237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5. Variable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F616EB-1E8C-1847-975A-72A2465B03E3}"/>
              </a:ext>
            </a:extLst>
          </p:cNvPr>
          <p:cNvSpPr txBox="1"/>
          <p:nvPr/>
        </p:nvSpPr>
        <p:spPr>
          <a:xfrm>
            <a:off x="953029" y="1909618"/>
            <a:ext cx="6398557" cy="3347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Container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ប្រើសម្រាប់រក្សាទុកតម្លៃ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បង្កើតដោយប្រើkeyword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var, let, const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var traditional way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let and const (ES6) new way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  <a:latin typeface="Khmer OS Siemreap" panose="02000500000000020004" pitchFamily="2" charset="77"/>
                <a:cs typeface="Khmer OS Siemreap" panose="02000500000000020004" pitchFamily="2" charset="77"/>
              </a:rPr>
              <a:t>const </a:t>
            </a:r>
            <a:r>
              <a:rPr lang="en-US" dirty="0" err="1">
                <a:highlight>
                  <a:srgbClr val="FFFF00"/>
                </a:highlight>
                <a:latin typeface="Khmer OS Siemreap" panose="02000500000000020004" pitchFamily="2" charset="77"/>
                <a:cs typeface="Khmer OS Siemreap" panose="02000500000000020004" pitchFamily="2" charset="77"/>
              </a:rPr>
              <a:t>មិនអាច</a:t>
            </a:r>
            <a:r>
              <a:rPr lang="en-US" dirty="0">
                <a:highlight>
                  <a:srgbClr val="FFFF00"/>
                </a:highlight>
                <a:latin typeface="Khmer OS Siemreap" panose="02000500000000020004" pitchFamily="2" charset="77"/>
                <a:cs typeface="Khmer OS Siemreap" panose="02000500000000020004" pitchFamily="2" charset="77"/>
              </a:rPr>
              <a:t> assign </a:t>
            </a:r>
            <a:r>
              <a:rPr lang="en-US" dirty="0" err="1">
                <a:highlight>
                  <a:srgbClr val="FFFF00"/>
                </a:highlight>
                <a:latin typeface="Khmer OS Siemreap" panose="02000500000000020004" pitchFamily="2" charset="77"/>
                <a:cs typeface="Khmer OS Siemreap" panose="02000500000000020004" pitchFamily="2" charset="77"/>
              </a:rPr>
              <a:t>ម្ដងទៀតបានទេ</a:t>
            </a:r>
            <a:endParaRPr lang="en-US" dirty="0">
              <a:highlight>
                <a:srgbClr val="FFFF00"/>
              </a:highlight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rtl="0" fontAlgn="base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b="0" i="0" u="none" strike="noStrike" dirty="0">
              <a:effectLst/>
              <a:latin typeface="Khmer OS Siemreap" panose="02000500000000020004" pitchFamily="2" charset="77"/>
              <a:cs typeface="Khmer OS Siemreap" panose="02000500000000020004" pitchFamily="2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C3750D-1370-1E44-8D83-B6333113A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8443" y="4416368"/>
            <a:ext cx="2775370" cy="943263"/>
          </a:xfrm>
          <a:prstGeom prst="rect">
            <a:avLst/>
          </a:prstGeom>
        </p:spPr>
      </p:pic>
      <p:pic>
        <p:nvPicPr>
          <p:cNvPr id="2050" name="Picture 2" descr="Variables in JavaScript - Scientech Easy">
            <a:extLst>
              <a:ext uri="{FF2B5EF4-FFF2-40B4-BE49-F238E27FC236}">
                <a16:creationId xmlns:a16="http://schemas.microsoft.com/office/drawing/2014/main" id="{5A347D5B-246E-3F48-8CC9-D3F881A9D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4949" y="1909618"/>
            <a:ext cx="3478864" cy="2267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7481337"/>
      </p:ext>
    </p:extLst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1F616EB-1E8C-1847-975A-72A2465B03E3}"/>
              </a:ext>
            </a:extLst>
          </p:cNvPr>
          <p:cNvSpPr txBox="1"/>
          <p:nvPr/>
        </p:nvSpPr>
        <p:spPr>
          <a:xfrm>
            <a:off x="868187" y="2012561"/>
            <a:ext cx="6398557" cy="2793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ត្រូវចាប់ផ្តើមដោយអក្សរ ឬ _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មិនអាចមាន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space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ឬ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number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ដើម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Best Practice: camelCase →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firstName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,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userAge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Snake case: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first_name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rtl="0" fontAlgn="base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244CE0-7747-B24D-89D3-9E2FB3CA93F3}"/>
              </a:ext>
            </a:extLst>
          </p:cNvPr>
          <p:cNvSpPr/>
          <p:nvPr/>
        </p:nvSpPr>
        <p:spPr>
          <a:xfrm>
            <a:off x="363354" y="1366847"/>
            <a:ext cx="3157275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2400" b="1" dirty="0">
                <a:ln w="0"/>
                <a:solidFill>
                  <a:srgbClr val="006EB5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Naming Conventions</a:t>
            </a:r>
          </a:p>
        </p:txBody>
      </p:sp>
      <p:pic>
        <p:nvPicPr>
          <p:cNvPr id="3074" name="Picture 2" descr="Stimulus Naming Conventions - Blog by Abhay Nikam">
            <a:extLst>
              <a:ext uri="{FF2B5EF4-FFF2-40B4-BE49-F238E27FC236}">
                <a16:creationId xmlns:a16="http://schemas.microsoft.com/office/drawing/2014/main" id="{C1C226AA-778B-FB40-8BC5-C299A3CFB5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2830" y="2012562"/>
            <a:ext cx="4901577" cy="3271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3398844"/>
      </p:ext>
    </p:extLst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3031407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6. Date Types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F616EB-1E8C-1847-975A-72A2465B03E3}"/>
              </a:ext>
            </a:extLst>
          </p:cNvPr>
          <p:cNvSpPr txBox="1"/>
          <p:nvPr/>
        </p:nvSpPr>
        <p:spPr>
          <a:xfrm>
            <a:off x="1169637" y="2283866"/>
            <a:ext cx="6398557" cy="2793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Number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String</a:t>
            </a:r>
            <a:endParaRPr lang="km-KH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Boolean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Object, Array, Null, Undefined</a:t>
            </a:r>
          </a:p>
          <a:p>
            <a:pPr marL="285750" indent="-285750" rtl="0" fontAlgn="base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b="0" i="0" u="none" strike="noStrike" dirty="0">
              <a:effectLst/>
              <a:latin typeface="Khmer OS Siemreap" panose="02000500000000020004" pitchFamily="2" charset="77"/>
              <a:cs typeface="Khmer OS Siemreap" panose="02000500000000020004" pitchFamily="2" charset="77"/>
            </a:endParaRPr>
          </a:p>
        </p:txBody>
      </p:sp>
      <p:pic>
        <p:nvPicPr>
          <p:cNvPr id="1026" name="Picture 2" descr="Variables and Datatypes in JavaScript - GeeksforGeeks">
            <a:extLst>
              <a:ext uri="{FF2B5EF4-FFF2-40B4-BE49-F238E27FC236}">
                <a16:creationId xmlns:a16="http://schemas.microsoft.com/office/drawing/2014/main" id="{938A4886-CC65-B944-8861-FFFA2B49F3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6377" y="2642981"/>
            <a:ext cx="6119090" cy="3059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3906629"/>
      </p:ext>
    </p:extLst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3740448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7. String method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F616EB-1E8C-1847-975A-72A2465B03E3}"/>
              </a:ext>
            </a:extLst>
          </p:cNvPr>
          <p:cNvSpPr txBox="1"/>
          <p:nvPr/>
        </p:nvSpPr>
        <p:spPr>
          <a:xfrm>
            <a:off x="722714" y="1846307"/>
            <a:ext cx="6398557" cy="2793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 fontAlgn="base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effectLst/>
                <a:latin typeface="Khmer OS Siemreap" panose="02000500000000020004" pitchFamily="2" charset="77"/>
                <a:cs typeface="Khmer OS Siemreap" panose="02000500000000020004" pitchFamily="2" charset="77"/>
              </a:rPr>
              <a:t>Method </a:t>
            </a:r>
            <a:r>
              <a:rPr lang="en-US" sz="1800" b="0" i="0" u="none" strike="noStrike" dirty="0" err="1">
                <a:effectLst/>
                <a:latin typeface="Khmer OS Siemreap" panose="02000500000000020004" pitchFamily="2" charset="77"/>
                <a:cs typeface="Khmer OS Siemreap" panose="02000500000000020004" pitchFamily="2" charset="77"/>
              </a:rPr>
              <a:t>ដែលប្រើជាញឹកញាប់ជាមួយនឹង</a:t>
            </a:r>
            <a:r>
              <a:rPr lang="en-US" sz="1800" b="0" i="0" u="none" strike="noStrike" dirty="0">
                <a:effectLst/>
                <a:latin typeface="Khmer OS Siemreap" panose="02000500000000020004" pitchFamily="2" charset="77"/>
                <a:cs typeface="Khmer OS Siemreap" panose="02000500000000020004" pitchFamily="2" charset="77"/>
              </a:rPr>
              <a:t> </a:t>
            </a:r>
            <a:r>
              <a:rPr lang="en-US" sz="1800" b="0" i="0" u="none" strike="noStrike" dirty="0" err="1">
                <a:effectLst/>
                <a:latin typeface="Khmer OS Siemreap" panose="02000500000000020004" pitchFamily="2" charset="77"/>
                <a:cs typeface="Khmer OS Siemreap" panose="02000500000000020004" pitchFamily="2" charset="77"/>
              </a:rPr>
              <a:t>អក្សរ</a:t>
            </a:r>
            <a:endParaRPr lang="en-US" sz="1800" b="0" i="0" u="none" strike="noStrike" dirty="0">
              <a:effectLst/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toLowerCase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() →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  <a:sym typeface="Wingdings" pitchFamily="2" charset="2"/>
              </a:rPr>
              <a:t>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ទៅជាអក្សរតូច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toUpperCase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() →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បម្លែងជាអក្សរធំ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slice() →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កាត់អក្សរ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trim() →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  <a:sym typeface="Wingdings" pitchFamily="2" charset="2"/>
              </a:rPr>
              <a:t>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ដកដកឃ្លាចេញពីចុងទាំងពីរនៃខ្សែអក្ស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រ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8C9FCCC-446D-DC4F-9627-90F6AC165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3025" y="1421102"/>
            <a:ext cx="4750548" cy="4781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82690"/>
      </p:ext>
    </p:extLst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2838982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8. Operators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B5A43F-F6E3-0343-97D5-8B8202622C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1221"/>
          <a:stretch/>
        </p:blipFill>
        <p:spPr>
          <a:xfrm>
            <a:off x="3275737" y="2813962"/>
            <a:ext cx="5941291" cy="31863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E873533-66B0-1E4F-9A60-0E9B29F15006}"/>
              </a:ext>
            </a:extLst>
          </p:cNvPr>
          <p:cNvSpPr txBox="1"/>
          <p:nvPr/>
        </p:nvSpPr>
        <p:spPr>
          <a:xfrm>
            <a:off x="436755" y="1230276"/>
            <a:ext cx="8410864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m-KH" b="1" dirty="0"/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គឺជាការប្រើប្រាស់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Operator (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សញ្ញា) ដើម្បីគណនា ឬធ្វើសកម្មភាពលើតម្លៃ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or variable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F21866-3087-D644-9ABF-2280607D1DDB}"/>
              </a:ext>
            </a:extLst>
          </p:cNvPr>
          <p:cNvSpPr/>
          <p:nvPr/>
        </p:nvSpPr>
        <p:spPr>
          <a:xfrm>
            <a:off x="4491522" y="2430679"/>
            <a:ext cx="3208955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2400" b="1" dirty="0">
                <a:ln w="0"/>
                <a:solidFill>
                  <a:srgbClr val="006EB5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Arithmetic Operators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ECD7E2-242F-A44C-BA67-AAB39903BB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1221"/>
          <a:stretch/>
        </p:blipFill>
        <p:spPr>
          <a:xfrm>
            <a:off x="3275736" y="2869261"/>
            <a:ext cx="5941291" cy="3186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4503"/>
      </p:ext>
    </p:extLst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5F21866-3087-D644-9ABF-2280607D1DDB}"/>
              </a:ext>
            </a:extLst>
          </p:cNvPr>
          <p:cNvSpPr/>
          <p:nvPr/>
        </p:nvSpPr>
        <p:spPr>
          <a:xfrm>
            <a:off x="4491522" y="1429233"/>
            <a:ext cx="3439788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2400" b="1" dirty="0">
                <a:ln w="0"/>
                <a:solidFill>
                  <a:srgbClr val="006EB5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Comparison Operators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74C081-107D-3D43-8BDB-0A7911FB9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017" y="2752436"/>
            <a:ext cx="8497889" cy="231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609621"/>
      </p:ext>
    </p:extLst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5F21866-3087-D644-9ABF-2280607D1DDB}"/>
              </a:ext>
            </a:extLst>
          </p:cNvPr>
          <p:cNvSpPr/>
          <p:nvPr/>
        </p:nvSpPr>
        <p:spPr>
          <a:xfrm>
            <a:off x="4491522" y="1429233"/>
            <a:ext cx="2712024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2400" b="1" dirty="0">
                <a:ln w="0"/>
                <a:solidFill>
                  <a:srgbClr val="006EB5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Logical Operators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8AF229A-EDE3-CB46-B05E-AB2EFED88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514" y="2239240"/>
            <a:ext cx="9860972" cy="1418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529996"/>
      </p:ext>
    </p:extLst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4500912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9. Control Structure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873533-66B0-1E4F-9A60-0E9B29F15006}"/>
              </a:ext>
            </a:extLst>
          </p:cNvPr>
          <p:cNvSpPr txBox="1"/>
          <p:nvPr/>
        </p:nvSpPr>
        <p:spPr>
          <a:xfrm>
            <a:off x="436755" y="1230276"/>
            <a:ext cx="8410864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m-KH" b="1" dirty="0"/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គ្រាន់តែជាវិធីមួយដើម្បីបញ្ជាក់លំហូរនៃការគ្រប់គ្រងនៅក្នុងកម្មវិធី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</p:txBody>
      </p:sp>
      <p:pic>
        <p:nvPicPr>
          <p:cNvPr id="8194" name="Picture 2" descr="What is a control structure in Python? | by Rahul Sharma | Aaweg Interview  | Medium">
            <a:extLst>
              <a:ext uri="{FF2B5EF4-FFF2-40B4-BE49-F238E27FC236}">
                <a16:creationId xmlns:a16="http://schemas.microsoft.com/office/drawing/2014/main" id="{8E47CC1E-7206-074D-A51F-173DC09DDF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6640" y="1370067"/>
            <a:ext cx="2287266" cy="193836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196" name="Picture 4" descr="Control Structures | SuperCode">
            <a:extLst>
              <a:ext uri="{FF2B5EF4-FFF2-40B4-BE49-F238E27FC236}">
                <a16:creationId xmlns:a16="http://schemas.microsoft.com/office/drawing/2014/main" id="{D303FDE4-A0A7-7948-87AD-BB70FDF7C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3440" y="3429000"/>
            <a:ext cx="4677516" cy="2293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4D02037-A6C0-0D4D-A7DB-B1F0431969B1}"/>
              </a:ext>
            </a:extLst>
          </p:cNvPr>
          <p:cNvSpPr/>
          <p:nvPr/>
        </p:nvSpPr>
        <p:spPr>
          <a:xfrm>
            <a:off x="436755" y="2627876"/>
            <a:ext cx="2550057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2400" b="1" dirty="0">
                <a:ln w="0"/>
                <a:solidFill>
                  <a:srgbClr val="006EB5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Break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4C7CDB-98BE-9147-80E7-74AFA6ED580E}"/>
              </a:ext>
            </a:extLst>
          </p:cNvPr>
          <p:cNvSpPr txBox="1"/>
          <p:nvPr/>
        </p:nvSpPr>
        <p:spPr>
          <a:xfrm>
            <a:off x="436755" y="3066458"/>
            <a:ext cx="4746812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បញ្ចប់ការប្រតិបត្តិនៃ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loop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ឬ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switch statement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54FFF5-78B0-3A4E-807B-FD8617118FD9}"/>
              </a:ext>
            </a:extLst>
          </p:cNvPr>
          <p:cNvSpPr/>
          <p:nvPr/>
        </p:nvSpPr>
        <p:spPr>
          <a:xfrm>
            <a:off x="436754" y="3908023"/>
            <a:ext cx="3043590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2400" b="1" dirty="0">
                <a:ln w="0"/>
                <a:solidFill>
                  <a:srgbClr val="006EB5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Continue statement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21EC19-B5F7-984A-B1CE-75FA4507E4F4}"/>
              </a:ext>
            </a:extLst>
          </p:cNvPr>
          <p:cNvSpPr txBox="1"/>
          <p:nvPr/>
        </p:nvSpPr>
        <p:spPr>
          <a:xfrm>
            <a:off x="436755" y="4485104"/>
            <a:ext cx="5969904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រំលង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ប្រតិបត្តិនៃ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loop​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ហើយបន្តទៅ វដ្តបន្ទាប់ (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next iteration)</a:t>
            </a:r>
          </a:p>
        </p:txBody>
      </p:sp>
      <p:pic>
        <p:nvPicPr>
          <p:cNvPr id="1026" name="Picture 2" descr="Differences Between break and continue (with Comparison Chart) - Tech  Differences">
            <a:extLst>
              <a:ext uri="{FF2B5EF4-FFF2-40B4-BE49-F238E27FC236}">
                <a16:creationId xmlns:a16="http://schemas.microsoft.com/office/drawing/2014/main" id="{45B97F4E-D97D-9A4B-828D-790DB21EF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444" y="5205183"/>
            <a:ext cx="3248196" cy="850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8089371"/>
      </p:ext>
    </p:extLst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5F21866-3087-D644-9ABF-2280607D1DDB}"/>
              </a:ext>
            </a:extLst>
          </p:cNvPr>
          <p:cNvSpPr/>
          <p:nvPr/>
        </p:nvSpPr>
        <p:spPr>
          <a:xfrm>
            <a:off x="436755" y="1619393"/>
            <a:ext cx="3684791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2400" b="1" dirty="0">
                <a:ln w="0"/>
                <a:solidFill>
                  <a:srgbClr val="006EB5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Conditional if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1CC227-B21B-E142-B132-930D21EFE2CE}"/>
              </a:ext>
            </a:extLst>
          </p:cNvPr>
          <p:cNvSpPr txBox="1"/>
          <p:nvPr/>
        </p:nvSpPr>
        <p:spPr>
          <a:xfrm>
            <a:off x="436755" y="1856912"/>
            <a:ext cx="6826490" cy="2966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km-KH" b="1" dirty="0"/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if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ដើម្បីបញ្ជាក់ប្លុកនៃកូដដែលត្រូវប្រតិបត្តិ ប្រសិនបើលក្ខខណ្ឌដែលបានបញ្ជាក់គឺពិត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else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ដើម្បីបញ្ជាក់ប្លុកនៃកូដដែលត្រូវប្រតិបត្តិ ប្រសិនបើលក្ខខណ្ឌដូចគ្នាមិនពិត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else if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ដើម្បីបញ្ជាក់លក្ខខណ្ឌថ្មី ប្រសិនបើលក្ខខណ្ឌទីមួយមិនពិត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switch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ដើម្បីបញ្ជាក់ប្លុកជំនួសជាច្រើននៃកូដដែលត្រូវប្រតិបត្តិ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</p:txBody>
      </p:sp>
      <p:pic>
        <p:nvPicPr>
          <p:cNvPr id="9218" name="Picture 2" descr="JavaScript Conditional Statements Explained with Examples | Codecademy">
            <a:extLst>
              <a:ext uri="{FF2B5EF4-FFF2-40B4-BE49-F238E27FC236}">
                <a16:creationId xmlns:a16="http://schemas.microsoft.com/office/drawing/2014/main" id="{B35E53AF-94EA-4A45-A1AC-061759CEFA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28" r="27167"/>
          <a:stretch/>
        </p:blipFill>
        <p:spPr bwMode="auto">
          <a:xfrm>
            <a:off x="8260773" y="2200535"/>
            <a:ext cx="2587337" cy="303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5601484"/>
      </p:ext>
    </p:extLst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5F21866-3087-D644-9ABF-2280607D1DDB}"/>
              </a:ext>
            </a:extLst>
          </p:cNvPr>
          <p:cNvSpPr/>
          <p:nvPr/>
        </p:nvSpPr>
        <p:spPr>
          <a:xfrm>
            <a:off x="436755" y="1467706"/>
            <a:ext cx="2413418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2400" b="1" dirty="0">
                <a:ln w="0"/>
                <a:solidFill>
                  <a:srgbClr val="006EB5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Loop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1CC227-B21B-E142-B132-930D21EFE2CE}"/>
              </a:ext>
            </a:extLst>
          </p:cNvPr>
          <p:cNvSpPr txBox="1"/>
          <p:nvPr/>
        </p:nvSpPr>
        <p:spPr>
          <a:xfrm>
            <a:off x="421808" y="1686997"/>
            <a:ext cx="6826490" cy="888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km-KH" b="1" dirty="0"/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ប្រើសម្រាប់ ធ្វើសកម្មភាពដដែលៗជាបន្តបន្ទាប់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EC008F-51F1-094D-9719-38D8DF25D0F4}"/>
              </a:ext>
            </a:extLst>
          </p:cNvPr>
          <p:cNvSpPr/>
          <p:nvPr/>
        </p:nvSpPr>
        <p:spPr>
          <a:xfrm>
            <a:off x="436755" y="3085448"/>
            <a:ext cx="1717393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2400" b="1" dirty="0">
                <a:ln w="0"/>
                <a:solidFill>
                  <a:srgbClr val="006EB5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1. For Loop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91DB46-9319-644E-8635-6216EF022A82}"/>
              </a:ext>
            </a:extLst>
          </p:cNvPr>
          <p:cNvSpPr txBox="1"/>
          <p:nvPr/>
        </p:nvSpPr>
        <p:spPr>
          <a:xfrm>
            <a:off x="436755" y="3611437"/>
            <a:ext cx="682649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ប្រើ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នៅពេលដែល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ដឹងចំនួនដងច្បាស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់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exp 1: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ចំនុចចាប់ផ្ដើម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exp 2: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កំណត់លក្ខខណ្ឌសម្រាប់ប្រតិបត្តិប្លុកកូដ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exp 3: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ត្រូវបានប្រតិបត្តិ (រាល់ពេល)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BC60A5-BEF7-C742-9E04-3360D585B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0490" y="2131349"/>
            <a:ext cx="3735070" cy="11010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F240FCC-9287-0843-A384-86153820A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0490" y="3524030"/>
            <a:ext cx="3438902" cy="88870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653632225"/>
      </p:ext>
    </p:extLst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9EC008F-51F1-094D-9719-38D8DF25D0F4}"/>
              </a:ext>
            </a:extLst>
          </p:cNvPr>
          <p:cNvSpPr/>
          <p:nvPr/>
        </p:nvSpPr>
        <p:spPr>
          <a:xfrm>
            <a:off x="304675" y="1581768"/>
            <a:ext cx="2103589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2400" b="1" dirty="0">
                <a:ln w="0"/>
                <a:solidFill>
                  <a:srgbClr val="006EB5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2. While Loop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91DB46-9319-644E-8635-6216EF022A82}"/>
              </a:ext>
            </a:extLst>
          </p:cNvPr>
          <p:cNvSpPr txBox="1"/>
          <p:nvPr/>
        </p:nvSpPr>
        <p:spPr>
          <a:xfrm>
            <a:off x="304675" y="2239837"/>
            <a:ext cx="682649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ប្រើពេលចង់បញ្ឈប់ដោយលក្ខខណ្ឌ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800100" lvl="1" indent="-342900" fontAlgn="base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ពិនិត្យមើល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condition</a:t>
            </a:r>
          </a:p>
          <a:p>
            <a:pPr marL="800100" lvl="1" indent="-342900" fontAlgn="base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បើសិនជាពិត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វានឹងធ្វើការ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800100" lvl="1" indent="-342900" fontAlgn="base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បន្ទាប់ពី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run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ចប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់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វានឹងពិនិត្យមើល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condition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ម្ដងទៀត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342900" indent="-342900">
              <a:buAutoNum type="arabicPeriod"/>
            </a:pPr>
            <a:endParaRPr lang="km-KH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D38276-33FF-3F48-BF54-41D0743FA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8590" y="4438650"/>
            <a:ext cx="3914608" cy="140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087566"/>
      </p:ext>
    </p:extLst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9EC008F-51F1-094D-9719-38D8DF25D0F4}"/>
              </a:ext>
            </a:extLst>
          </p:cNvPr>
          <p:cNvSpPr/>
          <p:nvPr/>
        </p:nvSpPr>
        <p:spPr>
          <a:xfrm>
            <a:off x="304675" y="1581768"/>
            <a:ext cx="2568460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2400" b="1" dirty="0">
                <a:ln w="0"/>
                <a:solidFill>
                  <a:srgbClr val="006EB5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3. Do While Loop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91DB46-9319-644E-8635-6216EF022A82}"/>
              </a:ext>
            </a:extLst>
          </p:cNvPr>
          <p:cNvSpPr txBox="1"/>
          <p:nvPr/>
        </p:nvSpPr>
        <p:spPr>
          <a:xfrm>
            <a:off x="304675" y="2199197"/>
            <a:ext cx="6826490" cy="1719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ដំណើរការយ៉ាងហោចណាស់ម្តង មុនពិនិត្យលក្ខខណ្ឌ។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800100" lvl="1" indent="-342900" fontAlgn="base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នឹងធ្វើការ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(run code inside loop)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ម្ដង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800100" lvl="1" indent="-342900" fontAlgn="base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ពិនិត្យមើល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condition</a:t>
            </a:r>
          </a:p>
          <a:p>
            <a:pPr marL="800100" lvl="1" indent="-342900" fontAlgn="base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បើសិនជាពិត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វានឹងធ្វើការ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(run code)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0488AAF-2290-B442-AB56-E3C242C8F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874" y="2672080"/>
            <a:ext cx="3154796" cy="11350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F0BE9FA-EDBC-5C4D-B235-900686DF0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954" y="4571998"/>
            <a:ext cx="4573245" cy="129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835831"/>
      </p:ext>
    </p:extLst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9EC008F-51F1-094D-9719-38D8DF25D0F4}"/>
              </a:ext>
            </a:extLst>
          </p:cNvPr>
          <p:cNvSpPr/>
          <p:nvPr/>
        </p:nvSpPr>
        <p:spPr>
          <a:xfrm>
            <a:off x="304675" y="1581768"/>
            <a:ext cx="1661289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2400" b="1" dirty="0">
                <a:ln w="0"/>
                <a:solidFill>
                  <a:srgbClr val="006EB5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4. </a:t>
            </a:r>
            <a:r>
              <a:rPr lang="en-US" sz="2400" b="1" dirty="0" err="1">
                <a:ln w="0"/>
                <a:solidFill>
                  <a:srgbClr val="006EB5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ForEach</a:t>
            </a:r>
            <a:endParaRPr lang="en-US" sz="2400" b="1" dirty="0">
              <a:ln w="0"/>
              <a:solidFill>
                <a:srgbClr val="006EB5"/>
              </a:solidFill>
              <a:latin typeface="Aptos Black" panose="020B0004020202020204" pitchFamily="34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91DB46-9319-644E-8635-6216EF022A82}"/>
              </a:ext>
            </a:extLst>
          </p:cNvPr>
          <p:cNvSpPr txBox="1"/>
          <p:nvPr/>
        </p:nvSpPr>
        <p:spPr>
          <a:xfrm>
            <a:off x="304675" y="2199197"/>
            <a:ext cx="6826490" cy="1304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អនុញ្ញាតអោយយើង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800100" lvl="1" indent="-342900" fontAlgn="base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Loop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រាល់ធាតុមានក្នុង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array</a:t>
            </a:r>
          </a:p>
          <a:p>
            <a:pPr marL="800100" lvl="1" indent="-342900" fontAlgn="base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វាធ្វើពីដើមដល់ចប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់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រហូតអស់ធាតុដែលមានក្នុង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array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3DF19B-D98F-B847-A6E3-85334FD13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062" y="3918899"/>
            <a:ext cx="4762500" cy="1193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F5786B-A5E7-3C40-A206-045559FE3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292" y="2488997"/>
            <a:ext cx="4808270" cy="1014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615707"/>
      </p:ext>
    </p:extLst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9EC008F-51F1-094D-9719-38D8DF25D0F4}"/>
              </a:ext>
            </a:extLst>
          </p:cNvPr>
          <p:cNvSpPr/>
          <p:nvPr/>
        </p:nvSpPr>
        <p:spPr>
          <a:xfrm>
            <a:off x="304675" y="1581768"/>
            <a:ext cx="1095493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2400" b="1" dirty="0">
                <a:ln w="0"/>
                <a:solidFill>
                  <a:srgbClr val="006EB5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4. Map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91DB46-9319-644E-8635-6216EF022A82}"/>
              </a:ext>
            </a:extLst>
          </p:cNvPr>
          <p:cNvSpPr txBox="1"/>
          <p:nvPr/>
        </p:nvSpPr>
        <p:spPr>
          <a:xfrm>
            <a:off x="304675" y="2199197"/>
            <a:ext cx="6826490" cy="1304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គេប្រើប្រាស់វាភាគច្រើន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​</a:t>
            </a:r>
          </a:p>
          <a:p>
            <a:pPr marL="800100" lvl="1" indent="-342900" fontAlgn="base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បំលែង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ទិន្នន័យ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ថ្មី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(transform)</a:t>
            </a:r>
          </a:p>
          <a:p>
            <a:pPr marL="800100" lvl="1" indent="-342900" fontAlgn="base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បង្កើត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Array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ថ្មី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C154740-B4D1-6845-A6DE-1232E93FB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795556"/>
            <a:ext cx="552450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122946"/>
      </p:ext>
    </p:extLst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2816477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9. Functions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873533-66B0-1E4F-9A60-0E9B29F15006}"/>
              </a:ext>
            </a:extLst>
          </p:cNvPr>
          <p:cNvSpPr txBox="1"/>
          <p:nvPr/>
        </p:nvSpPr>
        <p:spPr>
          <a:xfrm>
            <a:off x="436755" y="1230276"/>
            <a:ext cx="7599805" cy="4178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m-KH" b="1" dirty="0"/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ជាប្លុកនៃកូដដែលអនុវត្តកិច្ចការ ឬសកម្មភាពជាក់លាក់មួយ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ជៀសវាងការសរសេរកូដដដែលម្តងហើយម្តងទៀត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function: keyword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ដើម្បីបង្កើត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function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functionName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: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ដាក់ឈ្មោះអោយ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function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parameter1, parameter2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អថេរ(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variable)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ដែលប្រើនៅក្នុង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function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ដើម្បីទទួលតម្លៃពីខាងក្រៅ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​​ </a:t>
            </a:r>
            <a:r>
              <a:rPr lang="en-US" dirty="0">
                <a:highlight>
                  <a:srgbClr val="FFFF00"/>
                </a:highlight>
                <a:latin typeface="Khmer OS Siemreap" panose="02000500000000020004" pitchFamily="2" charset="77"/>
                <a:cs typeface="Khmer OS Siemreap" panose="02000500000000020004" pitchFamily="2" charset="77"/>
              </a:rPr>
              <a:t>(optional)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return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ត្រឡប់តម្លៃ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ទៅអោយអ្នកហៅប្រើ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</a:t>
            </a:r>
            <a:r>
              <a:rPr lang="en-US" dirty="0">
                <a:highlight>
                  <a:srgbClr val="FFFF00"/>
                </a:highlight>
                <a:latin typeface="Khmer OS Siemreap" panose="02000500000000020004" pitchFamily="2" charset="77"/>
                <a:cs typeface="Khmer OS Siemreap" panose="02000500000000020004" pitchFamily="2" charset="77"/>
              </a:rPr>
              <a:t>(optional)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9AFFE8-9117-274E-8E04-2DC1E970D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9992" y="1422400"/>
            <a:ext cx="4421358" cy="2895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6CB9E56-084D-3244-9689-E20C80EBF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9240" y="4510124"/>
            <a:ext cx="3266440" cy="1449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265937"/>
      </p:ext>
    </p:extLst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2308324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Functions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4118BB-32C6-D94A-87A1-35EE4EA9F293}"/>
              </a:ext>
            </a:extLst>
          </p:cNvPr>
          <p:cNvSpPr/>
          <p:nvPr/>
        </p:nvSpPr>
        <p:spPr>
          <a:xfrm>
            <a:off x="304675" y="1581768"/>
            <a:ext cx="2349554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2400" b="1" dirty="0">
                <a:ln w="0"/>
                <a:solidFill>
                  <a:srgbClr val="006EB5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Arrow Function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91FBE1-5644-FC4D-85FF-8F55C1250902}"/>
              </a:ext>
            </a:extLst>
          </p:cNvPr>
          <p:cNvSpPr txBox="1"/>
          <p:nvPr/>
        </p:nvSpPr>
        <p:spPr>
          <a:xfrm>
            <a:off x="304675" y="2199197"/>
            <a:ext cx="6826490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វិធីសាស្រ្តថ្មីក្នុងការបង្កើត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function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03323F4-2D62-FF4E-AE47-A470FFE4D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2210" y="1801059"/>
            <a:ext cx="3826510" cy="2784975"/>
          </a:xfrm>
          <a:prstGeom prst="rect">
            <a:avLst/>
          </a:prstGeom>
        </p:spPr>
      </p:pic>
      <p:pic>
        <p:nvPicPr>
          <p:cNvPr id="2050" name="Picture 2" descr="Exploring Arrow Functions and Their Lexical Scoping in JavaScript -  NashTech Blog">
            <a:extLst>
              <a:ext uri="{FF2B5EF4-FFF2-40B4-BE49-F238E27FC236}">
                <a16:creationId xmlns:a16="http://schemas.microsoft.com/office/drawing/2014/main" id="{B54161E6-B823-EA49-820D-3061A94274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333" y="4185598"/>
            <a:ext cx="4161791" cy="1760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2312824"/>
      </p:ext>
    </p:extLst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2616742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10. Objects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873533-66B0-1E4F-9A60-0E9B29F15006}"/>
              </a:ext>
            </a:extLst>
          </p:cNvPr>
          <p:cNvSpPr txBox="1"/>
          <p:nvPr/>
        </p:nvSpPr>
        <p:spPr>
          <a:xfrm>
            <a:off x="436755" y="1230276"/>
            <a:ext cx="7599805" cy="1962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m-KH" b="1" dirty="0"/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variable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ដែលអាចផ្ទុក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variable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ជាច្រើន។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បណ្តុំនៃគូ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key-value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ដែល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key and value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ដូចជាផ្ទះ ឡាន មនុស្ស សត្វ ឬវត្ថុផ្សេងៗទៀត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F75128-A8A5-824D-9B73-046BCBE20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9290" y="1414714"/>
            <a:ext cx="3161030" cy="22108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F7F2F6-DADA-1C46-8B6D-22C0BC603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4477" y="4058863"/>
            <a:ext cx="6131560" cy="1963477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D3B0529F-7F3F-9F4D-A90E-CC9BB62C4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970" y="4212849"/>
            <a:ext cx="4359910" cy="141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940309"/>
      </p:ext>
    </p:extLst>
  </p:cSld>
  <p:clrMapOvr>
    <a:masterClrMapping/>
  </p:clrMapOvr>
  <p:transition spd="slow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2309030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11. Arrays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873533-66B0-1E4F-9A60-0E9B29F15006}"/>
              </a:ext>
            </a:extLst>
          </p:cNvPr>
          <p:cNvSpPr txBox="1"/>
          <p:nvPr/>
        </p:nvSpPr>
        <p:spPr>
          <a:xfrm>
            <a:off x="618864" y="1414714"/>
            <a:ext cx="7599805" cy="4732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m-KH" b="1" dirty="0"/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ជាសំណុំដែលអាច រក្សាទុកតម្លៃច្រើនក្នុងអថេរមួយ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array functions</a:t>
            </a:r>
          </a:p>
          <a:p>
            <a:pPr marL="742950" lvl="2" indent="-285750" fontAlgn="base">
              <a:lnSpc>
                <a:spcPct val="200000"/>
              </a:lnSpc>
              <a:buFont typeface="Wingdings" pitchFamily="2" charset="2"/>
              <a:buChar char="Ø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push -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បន្ថែមធាតុនៅចុងក្រោយ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742950" lvl="2" indent="-285750" fontAlgn="base">
              <a:lnSpc>
                <a:spcPct val="200000"/>
              </a:lnSpc>
              <a:buFont typeface="Wingdings" pitchFamily="2" charset="2"/>
              <a:buChar char="Ø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unshift -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បន្ថែមធាតុនៅដើម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742950" lvl="2" indent="-285750" fontAlgn="base">
              <a:lnSpc>
                <a:spcPct val="200000"/>
              </a:lnSpc>
              <a:buFont typeface="Wingdings" pitchFamily="2" charset="2"/>
              <a:buChar char="Ø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pop -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លុបធាតុចុងក្រោយ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742950" lvl="2" indent="-285750" fontAlgn="base">
              <a:lnSpc>
                <a:spcPct val="200000"/>
              </a:lnSpc>
              <a:buFont typeface="Wingdings" pitchFamily="2" charset="2"/>
              <a:buChar char="Ø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includes –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ស្វែងរកធាតុ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742950" lvl="2" indent="-285750" fontAlgn="base">
              <a:lnSpc>
                <a:spcPct val="200000"/>
              </a:lnSpc>
              <a:buFont typeface="Wingdings" pitchFamily="2" charset="2"/>
              <a:buChar char="Ø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property length -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រាប់ចំនួនធាតុក្នុង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array</a:t>
            </a:r>
          </a:p>
          <a:p>
            <a:pPr marL="742950" lvl="1" indent="-285750" fontAlgn="base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0AF706-EABB-9D45-8726-03732EDE5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8042" y="1547232"/>
            <a:ext cx="4045404" cy="436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889122"/>
      </p:ext>
    </p:extLst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2060500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12. JSON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873533-66B0-1E4F-9A60-0E9B29F15006}"/>
              </a:ext>
            </a:extLst>
          </p:cNvPr>
          <p:cNvSpPr txBox="1"/>
          <p:nvPr/>
        </p:nvSpPr>
        <p:spPr>
          <a:xfrm>
            <a:off x="334384" y="1374074"/>
            <a:ext cx="7599805" cy="2669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m-KH" b="1" dirty="0"/>
          </a:p>
          <a:p>
            <a:pPr marL="285750" indent="-285750" fontAlgn="base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គឺជាទ្រង់ទ្រាយ (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format)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សម្រាប់ផ្ទុក និងផ្ញើទិន្នន័យ</a:t>
            </a:r>
          </a:p>
          <a:p>
            <a:pPr marL="285750" indent="-285750" fontAlgn="base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JSON is text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ទោះជាទម្រង់ដូច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Object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ក៏ដោយ តែវាជា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string</a:t>
            </a:r>
          </a:p>
          <a:p>
            <a:pPr marL="285750" indent="-285750" fontAlgn="base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Key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ត្រូវប្រើ “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double quotes”</a:t>
            </a:r>
          </a:p>
          <a:p>
            <a:pPr marL="285750" indent="-285750" fontAlgn="base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Value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អាចជា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string, number,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boolean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, array, object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ឬ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null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5CA6952-208E-5540-95BF-871BD57488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9040" y="2550714"/>
            <a:ext cx="4112260" cy="3274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FE6957D6-3D56-C240-A242-D915F067B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700" y="4475994"/>
            <a:ext cx="4813300" cy="1489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6325463"/>
      </p:ext>
    </p:extLst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1284647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JSON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873533-66B0-1E4F-9A60-0E9B29F15006}"/>
              </a:ext>
            </a:extLst>
          </p:cNvPr>
          <p:cNvSpPr txBox="1"/>
          <p:nvPr/>
        </p:nvSpPr>
        <p:spPr>
          <a:xfrm>
            <a:off x="304675" y="2110782"/>
            <a:ext cx="7599805" cy="2423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m-KH" b="1" dirty="0"/>
          </a:p>
          <a:p>
            <a:pPr marL="285750" indent="-285750" fontAlgn="base">
              <a:lnSpc>
                <a:spcPct val="2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នៅពេលផ្ញើទិន្នន័យពី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Front-end → Back-end</a:t>
            </a:r>
          </a:p>
          <a:p>
            <a:pPr marL="285750" indent="-285750" fontAlgn="base">
              <a:lnSpc>
                <a:spcPct val="2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នៅពេលទាញទិន្នន័យពី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API</a:t>
            </a:r>
          </a:p>
          <a:p>
            <a:pPr marL="285750" indent="-285750" fontAlgn="base">
              <a:lnSpc>
                <a:spcPct val="2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នៅពេលរក្សាទុកទិន្នន័យក្នុង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localStorage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11E1AD-7FE7-D341-8536-B7AD54D99965}"/>
              </a:ext>
            </a:extLst>
          </p:cNvPr>
          <p:cNvSpPr/>
          <p:nvPr/>
        </p:nvSpPr>
        <p:spPr>
          <a:xfrm>
            <a:off x="304675" y="1581768"/>
            <a:ext cx="2560637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2400" b="1" dirty="0">
                <a:ln w="0"/>
                <a:solidFill>
                  <a:srgbClr val="006EB5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When use JSON?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18CE77EA-CD33-364B-BD8A-8AFA61B94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1450" y="4534522"/>
            <a:ext cx="3191590" cy="1393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Protobuf vs JSON Comparison — Wallarm">
            <a:extLst>
              <a:ext uri="{FF2B5EF4-FFF2-40B4-BE49-F238E27FC236}">
                <a16:creationId xmlns:a16="http://schemas.microsoft.com/office/drawing/2014/main" id="{862D2FF6-1FE4-E743-A5BB-0CA036E8A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7793" y="1647919"/>
            <a:ext cx="5316220" cy="3189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0857976"/>
      </p:ext>
    </p:extLst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1973938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13. DOM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873533-66B0-1E4F-9A60-0E9B29F15006}"/>
              </a:ext>
            </a:extLst>
          </p:cNvPr>
          <p:cNvSpPr txBox="1"/>
          <p:nvPr/>
        </p:nvSpPr>
        <p:spPr>
          <a:xfrm>
            <a:off x="618864" y="1414714"/>
            <a:ext cx="7599805" cy="2516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m-KH" b="1" dirty="0"/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ជាសំណុំដែលអាច រក្សាទុកតម្លៃច្រើនក្នុងអថេរមួយ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ស្ពានរវាងគេហទំព័ររបស់អ្នក និង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JavaScript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អាន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រឺប្ដូរ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ទិន្នន័យទាំងនោះ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km-KH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AEEB85-D6EC-CD4A-9981-42C023478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896270"/>
            <a:ext cx="5080896" cy="264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983670"/>
      </p:ext>
    </p:extLst>
  </p:cSld>
  <p:clrMapOvr>
    <a:masterClrMapping/>
  </p:clrMapOvr>
  <p:transition spd="slow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1198085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DOM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873533-66B0-1E4F-9A60-0E9B29F15006}"/>
              </a:ext>
            </a:extLst>
          </p:cNvPr>
          <p:cNvSpPr txBox="1"/>
          <p:nvPr/>
        </p:nvSpPr>
        <p:spPr>
          <a:xfrm>
            <a:off x="562303" y="1895327"/>
            <a:ext cx="7599805" cy="4212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km-KH" b="1" dirty="0"/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By ID</a:t>
            </a:r>
            <a:b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</a:br>
            <a:r>
              <a:rPr lang="en-US" dirty="0" err="1"/>
              <a:t>document.getElementById</a:t>
            </a:r>
            <a:r>
              <a:rPr lang="en-US" dirty="0"/>
              <a:t>("demo");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By Class</a:t>
            </a:r>
            <a:b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</a:br>
            <a:r>
              <a:rPr lang="en-US" dirty="0" err="1"/>
              <a:t>document.getElementsByClassName</a:t>
            </a:r>
            <a:r>
              <a:rPr lang="en-US" dirty="0"/>
              <a:t>("title");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By Tag Name</a:t>
            </a:r>
            <a:b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</a:b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document.getElementsByTagName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("p");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By Query Selector (Modern)</a:t>
            </a:r>
            <a:b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</a:br>
            <a:r>
              <a:rPr lang="en-US" dirty="0" err="1"/>
              <a:t>document.querySelector</a:t>
            </a:r>
            <a:r>
              <a:rPr lang="en-US" dirty="0"/>
              <a:t>(".title");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m-KH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D27E8B-280A-654D-A85A-F4C9C1D8F937}"/>
              </a:ext>
            </a:extLst>
          </p:cNvPr>
          <p:cNvSpPr/>
          <p:nvPr/>
        </p:nvSpPr>
        <p:spPr>
          <a:xfrm>
            <a:off x="354521" y="1676036"/>
            <a:ext cx="2467663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2400" b="1" dirty="0">
                <a:ln w="0"/>
                <a:solidFill>
                  <a:srgbClr val="006EB5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Access Element</a:t>
            </a:r>
          </a:p>
        </p:txBody>
      </p:sp>
    </p:spTree>
    <p:extLst>
      <p:ext uri="{BB962C8B-B14F-4D97-AF65-F5344CB8AC3E}">
        <p14:creationId xmlns:p14="http://schemas.microsoft.com/office/powerpoint/2010/main" val="640237138"/>
      </p:ext>
    </p:extLst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1198085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DOM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873533-66B0-1E4F-9A60-0E9B29F15006}"/>
              </a:ext>
            </a:extLst>
          </p:cNvPr>
          <p:cNvSpPr txBox="1"/>
          <p:nvPr/>
        </p:nvSpPr>
        <p:spPr>
          <a:xfrm>
            <a:off x="354522" y="1945901"/>
            <a:ext cx="7271764" cy="3381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km-KH" b="1" dirty="0"/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Change text</a:t>
            </a:r>
            <a:b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</a:br>
            <a:r>
              <a:rPr lang="en-US" dirty="0" err="1"/>
              <a:t>document.getElementById</a:t>
            </a:r>
            <a:r>
              <a:rPr lang="en-US" dirty="0"/>
              <a:t>("demo").</a:t>
            </a:r>
            <a:r>
              <a:rPr lang="en-US" dirty="0" err="1"/>
              <a:t>innerHTML</a:t>
            </a:r>
            <a:r>
              <a:rPr lang="en-US" dirty="0"/>
              <a:t> = "Welcome to JavaScript!";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Change color</a:t>
            </a:r>
            <a:b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</a:br>
            <a:r>
              <a:rPr lang="en-US" dirty="0" err="1"/>
              <a:t>document.getElementById</a:t>
            </a:r>
            <a:r>
              <a:rPr lang="en-US" dirty="0"/>
              <a:t>("demo").</a:t>
            </a:r>
            <a:r>
              <a:rPr lang="en-US" dirty="0" err="1"/>
              <a:t>style.color</a:t>
            </a:r>
            <a:r>
              <a:rPr lang="en-US" dirty="0"/>
              <a:t> = "red";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Change font size</a:t>
            </a:r>
            <a:b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</a:br>
            <a:r>
              <a:rPr lang="en-US" dirty="0" err="1"/>
              <a:t>document.getElementById</a:t>
            </a:r>
            <a:r>
              <a:rPr lang="en-US" dirty="0"/>
              <a:t>("demo").</a:t>
            </a:r>
            <a:r>
              <a:rPr lang="en-US" dirty="0" err="1"/>
              <a:t>style.fontSize</a:t>
            </a:r>
            <a:r>
              <a:rPr lang="en-US" dirty="0"/>
              <a:t> = "20px";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D27E8B-280A-654D-A85A-F4C9C1D8F937}"/>
              </a:ext>
            </a:extLst>
          </p:cNvPr>
          <p:cNvSpPr/>
          <p:nvPr/>
        </p:nvSpPr>
        <p:spPr>
          <a:xfrm>
            <a:off x="354521" y="1676036"/>
            <a:ext cx="2487156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2400" b="1" dirty="0">
                <a:ln w="0"/>
                <a:solidFill>
                  <a:srgbClr val="006EB5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Change Content</a:t>
            </a:r>
          </a:p>
        </p:txBody>
      </p:sp>
    </p:spTree>
    <p:extLst>
      <p:ext uri="{BB962C8B-B14F-4D97-AF65-F5344CB8AC3E}">
        <p14:creationId xmlns:p14="http://schemas.microsoft.com/office/powerpoint/2010/main" val="3932910513"/>
      </p:ext>
    </p:extLst>
  </p:cSld>
  <p:clrMapOvr>
    <a:masterClrMapping/>
  </p:clrMapOvr>
  <p:transition spd="slow">
    <p:push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1198085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DOM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D27E8B-280A-654D-A85A-F4C9C1D8F937}"/>
              </a:ext>
            </a:extLst>
          </p:cNvPr>
          <p:cNvSpPr/>
          <p:nvPr/>
        </p:nvSpPr>
        <p:spPr>
          <a:xfrm>
            <a:off x="354521" y="1676036"/>
            <a:ext cx="2403991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2400" b="1" dirty="0">
                <a:ln w="0"/>
                <a:solidFill>
                  <a:srgbClr val="006EB5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Create Element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F898CB-F28C-F54D-80BD-AE73132C0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521" y="2307935"/>
            <a:ext cx="3666290" cy="11975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1304368-1F97-7041-9B57-64E0F0E42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5270" y="4051894"/>
            <a:ext cx="5893193" cy="200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380762"/>
      </p:ext>
    </p:extLst>
  </p:cSld>
  <p:clrMapOvr>
    <a:masterClrMapping/>
  </p:clrMapOvr>
  <p:transition spd="slow">
    <p:push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1198085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DOM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D27E8B-280A-654D-A85A-F4C9C1D8F937}"/>
              </a:ext>
            </a:extLst>
          </p:cNvPr>
          <p:cNvSpPr/>
          <p:nvPr/>
        </p:nvSpPr>
        <p:spPr>
          <a:xfrm>
            <a:off x="354521" y="1676036"/>
            <a:ext cx="959237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2400" b="1" dirty="0">
                <a:ln w="0"/>
                <a:solidFill>
                  <a:srgbClr val="006EB5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Event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EA0194-268B-C54C-AFCA-6883ECB5156C}"/>
              </a:ext>
            </a:extLst>
          </p:cNvPr>
          <p:cNvSpPr txBox="1"/>
          <p:nvPr/>
        </p:nvSpPr>
        <p:spPr>
          <a:xfrm>
            <a:off x="354521" y="1945901"/>
            <a:ext cx="10828343" cy="888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km-KH" b="1" dirty="0"/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សកម្មភាព (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action)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ឬ ការឆ្លើយតប (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interaction)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ដែលកើតឡើង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ដូចជា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click, input, scroll and keyboard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E09F82-121E-5E47-96F3-D273742AB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128" y="3527012"/>
            <a:ext cx="8225743" cy="236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922808"/>
      </p:ext>
    </p:extLst>
  </p:cSld>
  <p:clrMapOvr>
    <a:masterClrMapping/>
  </p:clrMapOvr>
  <p:transition spd="slow">
    <p:push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2596673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14. Storage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873533-66B0-1E4F-9A60-0E9B29F15006}"/>
              </a:ext>
            </a:extLst>
          </p:cNvPr>
          <p:cNvSpPr txBox="1"/>
          <p:nvPr/>
        </p:nvSpPr>
        <p:spPr>
          <a:xfrm>
            <a:off x="618864" y="1414714"/>
            <a:ext cx="7599805" cy="4178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m-KH" b="1" dirty="0"/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ជាវិធីដែល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browser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អនុញ្ញាតឲ្យ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JavaScript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រក្សាទុកទិន្នន័យនៅខាងក្នុង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computer / browser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របស់អ្នកប្រើ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មាន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៣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វិធីដើម្បីរក្សាទុក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800100" lvl="1" indent="-342900" fontAlgn="base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Local Storage</a:t>
            </a:r>
          </a:p>
          <a:p>
            <a:pPr marL="800100" lvl="1" indent="-342900" fontAlgn="base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Session Storage</a:t>
            </a:r>
          </a:p>
          <a:p>
            <a:pPr marL="800100" lvl="1" indent="-342900" fontAlgn="base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Cookie</a:t>
            </a:r>
          </a:p>
          <a:p>
            <a:pPr marL="800100" lvl="1" indent="-342900" fontAlgn="base">
              <a:lnSpc>
                <a:spcPct val="200000"/>
              </a:lnSpc>
              <a:buFont typeface="+mj-lt"/>
              <a:buAutoNum type="arabicPeriod"/>
            </a:pPr>
            <a:endParaRPr lang="km-KH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</p:txBody>
      </p:sp>
      <p:pic>
        <p:nvPicPr>
          <p:cNvPr id="13314" name="Picture 2" descr="Understanding Web Storage: Cookies, Local Storage, and Session Storage | by  Dimple Kumari | Medium">
            <a:extLst>
              <a:ext uri="{FF2B5EF4-FFF2-40B4-BE49-F238E27FC236}">
                <a16:creationId xmlns:a16="http://schemas.microsoft.com/office/drawing/2014/main" id="{6B53B6A8-BC86-2A46-85B2-F180F1AA0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5070" y="2952111"/>
            <a:ext cx="4528066" cy="3016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273409"/>
      </p:ext>
    </p:extLst>
  </p:cSld>
  <p:clrMapOvr>
    <a:masterClrMapping/>
  </p:clrMapOvr>
  <p:transition spd="slow">
    <p:push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1820819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Storage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D27E8B-280A-654D-A85A-F4C9C1D8F937}"/>
              </a:ext>
            </a:extLst>
          </p:cNvPr>
          <p:cNvSpPr/>
          <p:nvPr/>
        </p:nvSpPr>
        <p:spPr>
          <a:xfrm>
            <a:off x="354521" y="1676036"/>
            <a:ext cx="2452146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2400" b="1" dirty="0">
                <a:ln w="0"/>
                <a:solidFill>
                  <a:srgbClr val="006EB5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1. Local Storage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EA0194-268B-C54C-AFCA-6883ECB5156C}"/>
              </a:ext>
            </a:extLst>
          </p:cNvPr>
          <p:cNvSpPr txBox="1"/>
          <p:nvPr/>
        </p:nvSpPr>
        <p:spPr>
          <a:xfrm>
            <a:off x="354521" y="1945901"/>
            <a:ext cx="10828343" cy="2966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km-KH" b="1" dirty="0"/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អាចផ្ទុកអ្វីៗបានយូរ ទោះបីជាអ្នកបិទគេហទំព័រ ឬបិទកុំព្យូទ័ររបស់អ្នកក៏ដោយ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functions</a:t>
            </a:r>
          </a:p>
          <a:p>
            <a:pPr marL="742950" lvl="1" indent="-285750" fontAlgn="base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setItem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→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ដាក់ទិន្នន័យ</a:t>
            </a:r>
          </a:p>
          <a:p>
            <a:pPr marL="742950" lvl="1" indent="-285750" fontAlgn="base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getItem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→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អានទិន្នន័យ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742950" lvl="1" indent="-285750" fontAlgn="base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removeItem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→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លុបតែមួយ</a:t>
            </a:r>
          </a:p>
          <a:p>
            <a:pPr marL="742950" lvl="1" indent="-285750" fontAlgn="base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clear →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លុបទាំងអស់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13550D-CF3F-8648-9839-E16D843AC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6637" y="3177794"/>
            <a:ext cx="5497141" cy="227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482759"/>
      </p:ext>
    </p:extLst>
  </p:cSld>
  <p:clrMapOvr>
    <a:masterClrMapping/>
  </p:clrMapOvr>
  <p:transition spd="slow">
    <p:push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1820819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Storage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D27E8B-280A-654D-A85A-F4C9C1D8F937}"/>
              </a:ext>
            </a:extLst>
          </p:cNvPr>
          <p:cNvSpPr/>
          <p:nvPr/>
        </p:nvSpPr>
        <p:spPr>
          <a:xfrm>
            <a:off x="354521" y="1676036"/>
            <a:ext cx="2809615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2400" b="1" dirty="0">
                <a:ln w="0"/>
                <a:solidFill>
                  <a:srgbClr val="006EB5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2. Session Storage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EA0194-268B-C54C-AFCA-6883ECB5156C}"/>
              </a:ext>
            </a:extLst>
          </p:cNvPr>
          <p:cNvSpPr txBox="1"/>
          <p:nvPr/>
        </p:nvSpPr>
        <p:spPr>
          <a:xfrm>
            <a:off x="354521" y="2082291"/>
            <a:ext cx="10828343" cy="2966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km-KH" b="1" dirty="0"/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បើបិទ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browser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ឬ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refresh page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ថ្មី ទិន្នន័យត្រូវបានលុប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functions</a:t>
            </a:r>
          </a:p>
          <a:p>
            <a:pPr marL="742950" lvl="1" indent="-285750" fontAlgn="base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setItem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→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ដាក់ទិន្នន័យ</a:t>
            </a:r>
          </a:p>
          <a:p>
            <a:pPr marL="742950" lvl="1" indent="-285750" fontAlgn="base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getItem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→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អានទិន្នន័យ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742950" lvl="1" indent="-285750" fontAlgn="base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removeItem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→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លុបតែមួយ</a:t>
            </a:r>
          </a:p>
          <a:p>
            <a:pPr marL="742950" lvl="1" indent="-285750" fontAlgn="base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clear →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លុបទាំងអស់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E7AA2A-172E-2E4B-8DFD-3FF8C8FA7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285" y="4956826"/>
            <a:ext cx="7615194" cy="99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212653"/>
      </p:ext>
    </p:extLst>
  </p:cSld>
  <p:clrMapOvr>
    <a:masterClrMapping/>
  </p:clrMapOvr>
  <p:transition spd="slow">
    <p:push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1820819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Storage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D27E8B-280A-654D-A85A-F4C9C1D8F937}"/>
              </a:ext>
            </a:extLst>
          </p:cNvPr>
          <p:cNvSpPr/>
          <p:nvPr/>
        </p:nvSpPr>
        <p:spPr>
          <a:xfrm>
            <a:off x="354521" y="1676036"/>
            <a:ext cx="2852897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2400" b="1" dirty="0">
                <a:ln w="0"/>
                <a:solidFill>
                  <a:srgbClr val="006EB5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3. Cookies Storage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EA0194-268B-C54C-AFCA-6883ECB5156C}"/>
              </a:ext>
            </a:extLst>
          </p:cNvPr>
          <p:cNvSpPr txBox="1"/>
          <p:nvPr/>
        </p:nvSpPr>
        <p:spPr>
          <a:xfrm>
            <a:off x="354521" y="1739432"/>
            <a:ext cx="10828343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km-KH" b="1" dirty="0"/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ទិន្នន័យតូចៗ (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small data)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ដែល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browser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រក្សាទុកនៅលើកុំព្យូទ័ររបស់អ្នកប្រើ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វាត្រូវបានប្រើសម្រាប់ ចងចាំព័ត៌មានអ្នកប្រើ ដូចជា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ភាសា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, theme, login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Create cookie</a:t>
            </a:r>
            <a:b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</a:b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document.cookie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 = "username=John Doe";</a:t>
            </a:r>
            <a:b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</a:b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document.cookie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 = "username=John Doe; expires=Thu, 18 Dec 2013 12:00:00 UTC";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Read cookie</a:t>
            </a:r>
            <a:b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</a:b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let x =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document.cookie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;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Delete cookie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document.cookie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 = "username=; expires=Thu, 01 Jan 1970 00:00:00 UTC; path=/;";</a:t>
            </a:r>
            <a:b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</a:b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algn="l"/>
            <a:b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endParaRPr lang="km-KH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68673240"/>
      </p:ext>
    </p:extLst>
  </p:cSld>
  <p:clrMapOvr>
    <a:masterClrMapping/>
  </p:clrMapOvr>
  <p:transition spd="slow">
    <p:push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1820819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Storage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0FA487-F80B-A54B-80D4-6EC649B7B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655" y="2085165"/>
            <a:ext cx="8831176" cy="415908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F55E40B-2D92-D74D-8A46-ECE502A89172}"/>
              </a:ext>
            </a:extLst>
          </p:cNvPr>
          <p:cNvSpPr/>
          <p:nvPr/>
        </p:nvSpPr>
        <p:spPr>
          <a:xfrm>
            <a:off x="4778240" y="1379474"/>
            <a:ext cx="1916230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2400" b="1" dirty="0">
                <a:ln w="0"/>
                <a:solidFill>
                  <a:srgbClr val="006EB5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Comparison</a:t>
            </a:r>
          </a:p>
        </p:txBody>
      </p:sp>
    </p:spTree>
    <p:extLst>
      <p:ext uri="{BB962C8B-B14F-4D97-AF65-F5344CB8AC3E}">
        <p14:creationId xmlns:p14="http://schemas.microsoft.com/office/powerpoint/2010/main" val="1817707564"/>
      </p:ext>
    </p:extLst>
  </p:cSld>
  <p:clrMapOvr>
    <a:masterClrMapping/>
  </p:clrMapOvr>
  <p:transition spd="slow">
    <p:push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2656818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15. Classes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873533-66B0-1E4F-9A60-0E9B29F15006}"/>
              </a:ext>
            </a:extLst>
          </p:cNvPr>
          <p:cNvSpPr txBox="1"/>
          <p:nvPr/>
        </p:nvSpPr>
        <p:spPr>
          <a:xfrm>
            <a:off x="618864" y="1414714"/>
            <a:ext cx="7599805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m-KH" b="1" dirty="0"/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ជា ទំរង់ប្លង់ (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Template)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សម្រាប់បង្កើត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Objects</a:t>
            </a:r>
          </a:p>
        </p:txBody>
      </p:sp>
      <p:pic>
        <p:nvPicPr>
          <p:cNvPr id="19458" name="Picture 2" descr="Lightbox">
            <a:extLst>
              <a:ext uri="{FF2B5EF4-FFF2-40B4-BE49-F238E27FC236}">
                <a16:creationId xmlns:a16="http://schemas.microsoft.com/office/drawing/2014/main" id="{947C7AC6-53A2-9F43-8CB6-39A9E3872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7168" y="3139057"/>
            <a:ext cx="5355968" cy="2677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0A34E6-C616-034D-BABF-3FC055999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001" y="2799555"/>
            <a:ext cx="4913721" cy="3017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221509"/>
      </p:ext>
    </p:extLst>
  </p:cSld>
  <p:clrMapOvr>
    <a:masterClrMapping/>
  </p:clrMapOvr>
  <p:transition spd="slow">
    <p:push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2825228"/>
      </p:ext>
    </p:extLst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6319</TotalTime>
  <Words>1398</Words>
  <Application>Microsoft Office PowerPoint</Application>
  <PresentationFormat>Widescreen</PresentationFormat>
  <Paragraphs>215</Paragraphs>
  <Slides>43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Aptos Black</vt:lpstr>
      <vt:lpstr>Arial</vt:lpstr>
      <vt:lpstr>Calibri</vt:lpstr>
      <vt:lpstr>Khmer OS Siemreap</vt:lpstr>
      <vt:lpstr>Roboto</vt:lpstr>
      <vt:lpstr>Segoe UI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EM Seyha</cp:lastModifiedBy>
  <cp:revision>44</cp:revision>
  <dcterms:created xsi:type="dcterms:W3CDTF">2025-10-06T13:45:52Z</dcterms:created>
  <dcterms:modified xsi:type="dcterms:W3CDTF">2026-03-16T14:11:54Z</dcterms:modified>
</cp:coreProperties>
</file>