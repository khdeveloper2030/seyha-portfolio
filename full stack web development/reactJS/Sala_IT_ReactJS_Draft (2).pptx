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401" r:id="rId3"/>
    <p:sldId id="402" r:id="rId4"/>
    <p:sldId id="403" r:id="rId5"/>
    <p:sldId id="405" r:id="rId6"/>
    <p:sldId id="404" r:id="rId7"/>
    <p:sldId id="407" r:id="rId8"/>
    <p:sldId id="406" r:id="rId9"/>
    <p:sldId id="408" r:id="rId10"/>
    <p:sldId id="409" r:id="rId11"/>
    <p:sldId id="410" r:id="rId12"/>
    <p:sldId id="411" r:id="rId13"/>
    <p:sldId id="412" r:id="rId14"/>
    <p:sldId id="413" r:id="rId15"/>
    <p:sldId id="414" r:id="rId16"/>
    <p:sldId id="416" r:id="rId17"/>
    <p:sldId id="415" r:id="rId18"/>
    <p:sldId id="350" r:id="rId19"/>
    <p:sldId id="347" r:id="rId20"/>
    <p:sldId id="34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/>
    <p:restoredTop sz="96327"/>
  </p:normalViewPr>
  <p:slideViewPr>
    <p:cSldViewPr snapToGrid="0" snapToObjects="1">
      <p:cViewPr varScale="1">
        <p:scale>
          <a:sx n="76" d="100"/>
          <a:sy n="76" d="100"/>
        </p:scale>
        <p:origin x="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app.salaitdevelopment.com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nip Single Corner Rectangle 45">
            <a:extLst>
              <a:ext uri="{FF2B5EF4-FFF2-40B4-BE49-F238E27FC236}">
                <a16:creationId xmlns:a16="http://schemas.microsoft.com/office/drawing/2014/main" id="{EE1A6E72-DF69-9936-4B5F-AC93BB388E1C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0" dirty="0">
                <a:effectLst/>
              </a:rPr>
              <a:t> </a:t>
            </a:r>
            <a:endParaRPr lang="en-US" sz="400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6772484-0ED3-6CF8-76CE-48F05546AAA9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8" name="Freeform 39">
              <a:extLst>
                <a:ext uri="{FF2B5EF4-FFF2-40B4-BE49-F238E27FC236}">
                  <a16:creationId xmlns:a16="http://schemas.microsoft.com/office/drawing/2014/main" id="{0BEC4127-EC3B-1641-354B-385A1ED09DE1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0A9A897-311C-8A2E-B2C9-D0E71450D5B6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284C36-E4D1-4F7B-AAC5-8F77739A469A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6" name="Freeform 39">
                <a:extLst>
                  <a:ext uri="{FF2B5EF4-FFF2-40B4-BE49-F238E27FC236}">
                    <a16:creationId xmlns:a16="http://schemas.microsoft.com/office/drawing/2014/main" id="{351FD69F-C469-A277-0658-1C819EDC6609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BD4AFEF-1F5B-884F-B784-9ACC610E16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307" y="129483"/>
            <a:ext cx="1828800" cy="1828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9E3F00-B81A-9B41-B6BC-84A26BBC70A0}"/>
              </a:ext>
            </a:extLst>
          </p:cNvPr>
          <p:cNvSpPr txBox="1"/>
          <p:nvPr userDrawn="1"/>
        </p:nvSpPr>
        <p:spPr>
          <a:xfrm>
            <a:off x="251601" y="5230254"/>
            <a:ext cx="189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"/>
              </a:rPr>
              <a:t>Contact us:</a:t>
            </a:r>
          </a:p>
        </p:txBody>
      </p:sp>
      <p:pic>
        <p:nvPicPr>
          <p:cNvPr id="9" name="Graphic 8" descr="Earth globe: Americas with solid fill">
            <a:extLst>
              <a:ext uri="{FF2B5EF4-FFF2-40B4-BE49-F238E27FC236}">
                <a16:creationId xmlns:a16="http://schemas.microsoft.com/office/drawing/2014/main" id="{A8E61CC3-4923-3F46-B899-22545B4B35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971" y="6093326"/>
            <a:ext cx="274320" cy="274320"/>
          </a:xfrm>
          <a:prstGeom prst="rect">
            <a:avLst/>
          </a:prstGeom>
        </p:spPr>
      </p:pic>
      <p:pic>
        <p:nvPicPr>
          <p:cNvPr id="12" name="Graphic 11" descr="Receiver with solid fill">
            <a:extLst>
              <a:ext uri="{FF2B5EF4-FFF2-40B4-BE49-F238E27FC236}">
                <a16:creationId xmlns:a16="http://schemas.microsoft.com/office/drawing/2014/main" id="{70089D4B-98F8-184C-9D3D-5726E2CA0C6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971" y="5663047"/>
            <a:ext cx="274320" cy="2743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BEFA59-341D-2143-9FE8-154510F763F4}"/>
              </a:ext>
            </a:extLst>
          </p:cNvPr>
          <p:cNvSpPr txBox="1"/>
          <p:nvPr userDrawn="1"/>
        </p:nvSpPr>
        <p:spPr>
          <a:xfrm>
            <a:off x="625690" y="5683789"/>
            <a:ext cx="1898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"/>
              </a:rPr>
              <a:t>011 504 463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251C8-1DA8-3F47-A00B-566CC72C4D7D}"/>
              </a:ext>
            </a:extLst>
          </p:cNvPr>
          <p:cNvSpPr txBox="1"/>
          <p:nvPr userDrawn="1"/>
        </p:nvSpPr>
        <p:spPr>
          <a:xfrm>
            <a:off x="606291" y="6064500"/>
            <a:ext cx="4617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bg1"/>
                </a:solidFill>
                <a:latin typeface="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app.salaitdevelopment.com</a:t>
            </a:r>
            <a:endParaRPr lang="en-US" sz="1400" u="sng" dirty="0">
              <a:solidFill>
                <a:schemeClr val="bg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302299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339F32B-FA24-03B9-DAC0-D994ED2679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3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DBC540-E41E-72E4-E2D2-17EBB6A6C00C}"/>
              </a:ext>
            </a:extLst>
          </p:cNvPr>
          <p:cNvGrpSpPr/>
          <p:nvPr userDrawn="1"/>
        </p:nvGrpSpPr>
        <p:grpSpPr>
          <a:xfrm>
            <a:off x="-39209" y="6312920"/>
            <a:ext cx="12689647" cy="515789"/>
            <a:chOff x="-29407" y="4724530"/>
            <a:chExt cx="9517235" cy="386842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EC17D452-255F-2D4F-E136-032E261B30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9407" y="4724530"/>
              <a:ext cx="4743914" cy="386842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C03FF98-DF31-EFC5-E206-664F433C12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43914" y="4724530"/>
              <a:ext cx="4743914" cy="386842"/>
            </a:xfrm>
            <a:prstGeom prst="rect">
              <a:avLst/>
            </a:prstGeom>
          </p:spPr>
        </p:pic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4DD8F2D-F5BB-AE88-C31A-36B2E7B46732}"/>
              </a:ext>
            </a:extLst>
          </p:cNvPr>
          <p:cNvSpPr/>
          <p:nvPr userDrawn="1"/>
        </p:nvSpPr>
        <p:spPr>
          <a:xfrm>
            <a:off x="317888" y="6303356"/>
            <a:ext cx="693651" cy="33357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383FF56-2E67-4C85-F4AE-939E87DCFA76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E719884A-0563-31E8-54B2-798D18A386B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CEFFDDC-8FB3-4C51-2765-0203337A6E07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F68C89C-F478-8C0A-B310-6C8A0E09293C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48" name="Freeform 39">
                <a:extLst>
                  <a:ext uri="{FF2B5EF4-FFF2-40B4-BE49-F238E27FC236}">
                    <a16:creationId xmlns:a16="http://schemas.microsoft.com/office/drawing/2014/main" id="{4AABAAF1-C15F-40FF-3799-BF7043C1EE5A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7C6C6BE-99A3-D24A-BF88-988270FC282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10200" y="177733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98802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">
            <a:extLst>
              <a:ext uri="{FF2B5EF4-FFF2-40B4-BE49-F238E27FC236}">
                <a16:creationId xmlns:a16="http://schemas.microsoft.com/office/drawing/2014/main" id="{941CAF20-EE72-A778-4B44-B1757F8CBB64}"/>
              </a:ext>
            </a:extLst>
          </p:cNvPr>
          <p:cNvSpPr/>
          <p:nvPr userDrawn="1"/>
        </p:nvSpPr>
        <p:spPr>
          <a:xfrm flipH="1" flipV="1">
            <a:off x="-6" y="-5"/>
            <a:ext cx="3747063" cy="1290324"/>
          </a:xfrm>
          <a:custGeom>
            <a:avLst/>
            <a:gdLst>
              <a:gd name="connsiteX0" fmla="*/ 1200000 w 3176352"/>
              <a:gd name="connsiteY0" fmla="*/ 0 h 1200000"/>
              <a:gd name="connsiteX1" fmla="*/ 1332327 w 3176352"/>
              <a:gd name="connsiteY1" fmla="*/ 0 h 1200000"/>
              <a:gd name="connsiteX2" fmla="*/ 3176352 w 3176352"/>
              <a:gd name="connsiteY2" fmla="*/ 0 h 1200000"/>
              <a:gd name="connsiteX3" fmla="*/ 3176352 w 3176352"/>
              <a:gd name="connsiteY3" fmla="*/ 1200000 h 1200000"/>
              <a:gd name="connsiteX4" fmla="*/ 0 w 3176352"/>
              <a:gd name="connsiteY4" fmla="*/ 1200000 h 12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6352" h="1200000">
                <a:moveTo>
                  <a:pt x="1200000" y="0"/>
                </a:moveTo>
                <a:lnTo>
                  <a:pt x="1332327" y="0"/>
                </a:lnTo>
                <a:lnTo>
                  <a:pt x="3176352" y="0"/>
                </a:lnTo>
                <a:lnTo>
                  <a:pt x="3176352" y="1200000"/>
                </a:lnTo>
                <a:lnTo>
                  <a:pt x="0" y="120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6A8669-B186-8FF7-E3DE-94923EEC49A8}"/>
              </a:ext>
            </a:extLst>
          </p:cNvPr>
          <p:cNvGrpSpPr/>
          <p:nvPr userDrawn="1"/>
        </p:nvGrpSpPr>
        <p:grpSpPr>
          <a:xfrm>
            <a:off x="1" y="-9779"/>
            <a:ext cx="12211607" cy="1169323"/>
            <a:chOff x="0" y="133601"/>
            <a:chExt cx="9158705" cy="876992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25A801B-4068-F473-F6FA-B4689D3BA85E}"/>
                </a:ext>
              </a:extLst>
            </p:cNvPr>
            <p:cNvSpPr/>
            <p:nvPr userDrawn="1"/>
          </p:nvSpPr>
          <p:spPr>
            <a:xfrm>
              <a:off x="0" y="133601"/>
              <a:ext cx="6545649" cy="876992"/>
            </a:xfrm>
            <a:custGeom>
              <a:avLst/>
              <a:gdLst>
                <a:gd name="connsiteX0" fmla="*/ 0 w 9005306"/>
                <a:gd name="connsiteY0" fmla="*/ 0 h 1206539"/>
                <a:gd name="connsiteX1" fmla="*/ 9005306 w 9005306"/>
                <a:gd name="connsiteY1" fmla="*/ 0 h 1206539"/>
                <a:gd name="connsiteX2" fmla="*/ 7798768 w 9005306"/>
                <a:gd name="connsiteY2" fmla="*/ 1206539 h 1206539"/>
                <a:gd name="connsiteX3" fmla="*/ 0 w 9005306"/>
                <a:gd name="connsiteY3" fmla="*/ 1206539 h 1206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05306" h="1206539">
                  <a:moveTo>
                    <a:pt x="0" y="0"/>
                  </a:moveTo>
                  <a:lnTo>
                    <a:pt x="9005306" y="0"/>
                  </a:lnTo>
                  <a:lnTo>
                    <a:pt x="7798768" y="1206539"/>
                  </a:lnTo>
                  <a:lnTo>
                    <a:pt x="0" y="12065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6E659EA-39FC-42A2-CA72-7F84036AB274}"/>
                </a:ext>
              </a:extLst>
            </p:cNvPr>
            <p:cNvSpPr/>
            <p:nvPr userDrawn="1"/>
          </p:nvSpPr>
          <p:spPr>
            <a:xfrm>
              <a:off x="6545648" y="133601"/>
              <a:ext cx="2613057" cy="872239"/>
            </a:xfrm>
            <a:custGeom>
              <a:avLst/>
              <a:gdLst>
                <a:gd name="connsiteX0" fmla="*/ 0 w 3735355"/>
                <a:gd name="connsiteY0" fmla="*/ 872239 h 872239"/>
                <a:gd name="connsiteX1" fmla="*/ 878458 w 3735355"/>
                <a:gd name="connsiteY1" fmla="*/ 0 h 872239"/>
                <a:gd name="connsiteX2" fmla="*/ 3735355 w 3735355"/>
                <a:gd name="connsiteY2" fmla="*/ 0 h 872239"/>
                <a:gd name="connsiteX3" fmla="*/ 2856897 w 3735355"/>
                <a:gd name="connsiteY3" fmla="*/ 872239 h 872239"/>
                <a:gd name="connsiteX4" fmla="*/ 0 w 3735355"/>
                <a:gd name="connsiteY4" fmla="*/ 872239 h 872239"/>
                <a:gd name="connsiteX0" fmla="*/ 0 w 2856897"/>
                <a:gd name="connsiteY0" fmla="*/ 872239 h 872239"/>
                <a:gd name="connsiteX1" fmla="*/ 878458 w 2856897"/>
                <a:gd name="connsiteY1" fmla="*/ 0 h 872239"/>
                <a:gd name="connsiteX2" fmla="*/ 2597435 w 2856897"/>
                <a:gd name="connsiteY2" fmla="*/ 30480 h 872239"/>
                <a:gd name="connsiteX3" fmla="*/ 2856897 w 2856897"/>
                <a:gd name="connsiteY3" fmla="*/ 872239 h 872239"/>
                <a:gd name="connsiteX4" fmla="*/ 0 w 2856897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597435 w 2613057"/>
                <a:gd name="connsiteY2" fmla="*/ 3048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  <a:gd name="connsiteX0" fmla="*/ 0 w 2617755"/>
                <a:gd name="connsiteY0" fmla="*/ 872239 h 872239"/>
                <a:gd name="connsiteX1" fmla="*/ 878458 w 2617755"/>
                <a:gd name="connsiteY1" fmla="*/ 0 h 872239"/>
                <a:gd name="connsiteX2" fmla="*/ 2617755 w 2617755"/>
                <a:gd name="connsiteY2" fmla="*/ 20320 h 872239"/>
                <a:gd name="connsiteX3" fmla="*/ 2613057 w 2617755"/>
                <a:gd name="connsiteY3" fmla="*/ 862079 h 872239"/>
                <a:gd name="connsiteX4" fmla="*/ 0 w 2617755"/>
                <a:gd name="connsiteY4" fmla="*/ 872239 h 872239"/>
                <a:gd name="connsiteX0" fmla="*/ 0 w 2613057"/>
                <a:gd name="connsiteY0" fmla="*/ 872239 h 872239"/>
                <a:gd name="connsiteX1" fmla="*/ 878458 w 2613057"/>
                <a:gd name="connsiteY1" fmla="*/ 0 h 872239"/>
                <a:gd name="connsiteX2" fmla="*/ 2607595 w 2613057"/>
                <a:gd name="connsiteY2" fmla="*/ 0 h 872239"/>
                <a:gd name="connsiteX3" fmla="*/ 2613057 w 2613057"/>
                <a:gd name="connsiteY3" fmla="*/ 862079 h 872239"/>
                <a:gd name="connsiteX4" fmla="*/ 0 w 2613057"/>
                <a:gd name="connsiteY4" fmla="*/ 872239 h 87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13057" h="872239">
                  <a:moveTo>
                    <a:pt x="0" y="872239"/>
                  </a:moveTo>
                  <a:lnTo>
                    <a:pt x="878458" y="0"/>
                  </a:lnTo>
                  <a:lnTo>
                    <a:pt x="2607595" y="0"/>
                  </a:lnTo>
                  <a:cubicBezTo>
                    <a:pt x="2609416" y="287360"/>
                    <a:pt x="2611236" y="574719"/>
                    <a:pt x="2613057" y="862079"/>
                  </a:cubicBezTo>
                  <a:lnTo>
                    <a:pt x="0" y="872239"/>
                  </a:ln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7DE05EC-2409-5C35-8B20-53DE5AD13B35}"/>
              </a:ext>
            </a:extLst>
          </p:cNvPr>
          <p:cNvGrpSpPr/>
          <p:nvPr userDrawn="1"/>
        </p:nvGrpSpPr>
        <p:grpSpPr>
          <a:xfrm>
            <a:off x="389890" y="6132074"/>
            <a:ext cx="11412221" cy="602803"/>
            <a:chOff x="292417" y="4599053"/>
            <a:chExt cx="8559166" cy="45210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1FEBE89-CFE5-65B3-650A-D5B1B3AB2D3D}"/>
                </a:ext>
              </a:extLst>
            </p:cNvPr>
            <p:cNvGrpSpPr/>
            <p:nvPr userDrawn="1"/>
          </p:nvGrpSpPr>
          <p:grpSpPr>
            <a:xfrm>
              <a:off x="292417" y="4599053"/>
              <a:ext cx="8559166" cy="250180"/>
              <a:chOff x="292417" y="4491948"/>
              <a:chExt cx="8559166" cy="25018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03D3430-8763-6DE6-63D3-547F54271A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92417" y="4598203"/>
                <a:ext cx="8393344" cy="18835"/>
              </a:xfrm>
              <a:prstGeom prst="line">
                <a:avLst/>
              </a:prstGeom>
              <a:ln>
                <a:solidFill>
                  <a:srgbClr val="006EB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AD3C87E-882C-3B9F-F67B-72A6FA773CDB}"/>
                  </a:ext>
                </a:extLst>
              </p:cNvPr>
              <p:cNvSpPr/>
              <p:nvPr userDrawn="1"/>
            </p:nvSpPr>
            <p:spPr>
              <a:xfrm>
                <a:off x="8331345" y="4491948"/>
                <a:ext cx="520238" cy="250180"/>
              </a:xfrm>
              <a:prstGeom prst="roundRect">
                <a:avLst/>
              </a:pr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F5A7B5-A3AE-6297-88EB-934C28E43CBE}"/>
                </a:ext>
              </a:extLst>
            </p:cNvPr>
            <p:cNvGrpSpPr/>
            <p:nvPr userDrawn="1"/>
          </p:nvGrpSpPr>
          <p:grpSpPr>
            <a:xfrm>
              <a:off x="292417" y="4735684"/>
              <a:ext cx="5208078" cy="315471"/>
              <a:chOff x="648318" y="3617335"/>
              <a:chExt cx="5208078" cy="31547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174C11-C320-0E58-A507-F4C5337EA663}"/>
                  </a:ext>
                </a:extLst>
              </p:cNvPr>
              <p:cNvSpPr/>
              <p:nvPr/>
            </p:nvSpPr>
            <p:spPr>
              <a:xfrm>
                <a:off x="814964" y="3617335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rgbClr val="006EB4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7" name="Freeform 39">
                <a:extLst>
                  <a:ext uri="{FF2B5EF4-FFF2-40B4-BE49-F238E27FC236}">
                    <a16:creationId xmlns:a16="http://schemas.microsoft.com/office/drawing/2014/main" id="{97F964A0-0112-F128-2286-F470F03DF869}"/>
                  </a:ext>
                </a:extLst>
              </p:cNvPr>
              <p:cNvSpPr/>
              <p:nvPr/>
            </p:nvSpPr>
            <p:spPr>
              <a:xfrm rot="10800000" flipH="1" flipV="1">
                <a:off x="648318" y="3661461"/>
                <a:ext cx="192481" cy="152005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rgbClr val="006E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16A24CD-A0C0-0D46-940D-A4F8F83AB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54147" y="10499"/>
            <a:ext cx="1097280" cy="10972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75AB2A-6311-D740-8059-778CA8B1268C}"/>
              </a:ext>
            </a:extLst>
          </p:cNvPr>
          <p:cNvSpPr txBox="1"/>
          <p:nvPr userDrawn="1"/>
        </p:nvSpPr>
        <p:spPr>
          <a:xfrm>
            <a:off x="8737600" y="98697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1B580907-4F56-5448-A07A-C77C50C473B0}"/>
              </a:ext>
            </a:extLst>
          </p:cNvPr>
          <p:cNvSpPr/>
          <p:nvPr userDrawn="1"/>
        </p:nvSpPr>
        <p:spPr>
          <a:xfrm>
            <a:off x="7794382" y="2314"/>
            <a:ext cx="1783459" cy="1169323"/>
          </a:xfrm>
          <a:custGeom>
            <a:avLst/>
            <a:gdLst>
              <a:gd name="connsiteX0" fmla="*/ 1206539 w 1840221"/>
              <a:gd name="connsiteY0" fmla="*/ 0 h 1206539"/>
              <a:gd name="connsiteX1" fmla="*/ 1840221 w 1840221"/>
              <a:gd name="connsiteY1" fmla="*/ 0 h 1206539"/>
              <a:gd name="connsiteX2" fmla="*/ 633682 w 1840221"/>
              <a:gd name="connsiteY2" fmla="*/ 1206539 h 1206539"/>
              <a:gd name="connsiteX3" fmla="*/ 0 w 1840221"/>
              <a:gd name="connsiteY3" fmla="*/ 1206539 h 120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0221" h="1206539">
                <a:moveTo>
                  <a:pt x="1206539" y="0"/>
                </a:moveTo>
                <a:lnTo>
                  <a:pt x="1840221" y="0"/>
                </a:lnTo>
                <a:lnTo>
                  <a:pt x="633682" y="1206539"/>
                </a:lnTo>
                <a:lnTo>
                  <a:pt x="0" y="1206539"/>
                </a:lnTo>
                <a:close/>
              </a:path>
            </a:pathLst>
          </a:custGeom>
          <a:solidFill>
            <a:srgbClr val="006E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5674908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1_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nip Single Corner Rectangle 45">
            <a:extLst>
              <a:ext uri="{FF2B5EF4-FFF2-40B4-BE49-F238E27FC236}">
                <a16:creationId xmlns:a16="http://schemas.microsoft.com/office/drawing/2014/main" id="{186FA5EC-735A-D293-DEA3-9522622AC00A}"/>
              </a:ext>
            </a:extLst>
          </p:cNvPr>
          <p:cNvSpPr/>
          <p:nvPr userDrawn="1"/>
        </p:nvSpPr>
        <p:spPr>
          <a:xfrm>
            <a:off x="0" y="5008880"/>
            <a:ext cx="12192000" cy="1852507"/>
          </a:xfrm>
          <a:prstGeom prst="snip1Rect">
            <a:avLst>
              <a:gd name="adj" fmla="val 50000"/>
            </a:avLst>
          </a:pr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18" name="Google Shape;18;p3"/>
          <p:cNvSpPr txBox="1"/>
          <p:nvPr/>
        </p:nvSpPr>
        <p:spPr>
          <a:xfrm>
            <a:off x="2673879" y="2030923"/>
            <a:ext cx="7067760" cy="17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YOU!</a:t>
            </a:r>
            <a:endParaRPr sz="6400" b="1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2782A8-4B15-526E-8872-A7D0AD8CDCE3}"/>
              </a:ext>
            </a:extLst>
          </p:cNvPr>
          <p:cNvGrpSpPr/>
          <p:nvPr userDrawn="1"/>
        </p:nvGrpSpPr>
        <p:grpSpPr>
          <a:xfrm>
            <a:off x="7046848" y="6172759"/>
            <a:ext cx="7082325" cy="624227"/>
            <a:chOff x="5285136" y="4310323"/>
            <a:chExt cx="5311744" cy="468170"/>
          </a:xfrm>
        </p:grpSpPr>
        <p:sp>
          <p:nvSpPr>
            <p:cNvPr id="14" name="Freeform 39">
              <a:extLst>
                <a:ext uri="{FF2B5EF4-FFF2-40B4-BE49-F238E27FC236}">
                  <a16:creationId xmlns:a16="http://schemas.microsoft.com/office/drawing/2014/main" id="{5D55375A-9693-86C7-5679-E8346D72DCE3}"/>
                </a:ext>
              </a:extLst>
            </p:cNvPr>
            <p:cNvSpPr/>
            <p:nvPr userDrawn="1"/>
          </p:nvSpPr>
          <p:spPr>
            <a:xfrm rot="10800000" flipH="1" flipV="1">
              <a:off x="6138862" y="4658911"/>
              <a:ext cx="151425" cy="119582"/>
            </a:xfrm>
            <a:custGeom>
              <a:avLst/>
              <a:gdLst/>
              <a:ahLst/>
              <a:cxnLst/>
              <a:rect l="l" t="t" r="r" b="b"/>
              <a:pathLst>
                <a:path w="98375" h="77688">
                  <a:moveTo>
                    <a:pt x="78134" y="0"/>
                  </a:moveTo>
                  <a:lnTo>
                    <a:pt x="98375" y="11757"/>
                  </a:lnTo>
                  <a:cubicBezTo>
                    <a:pt x="89842" y="25251"/>
                    <a:pt x="85427" y="38943"/>
                    <a:pt x="85129" y="52834"/>
                  </a:cubicBezTo>
                  <a:lnTo>
                    <a:pt x="85129" y="77688"/>
                  </a:lnTo>
                  <a:lnTo>
                    <a:pt x="51048" y="77688"/>
                  </a:lnTo>
                  <a:lnTo>
                    <a:pt x="51048" y="55364"/>
                  </a:lnTo>
                  <a:cubicBezTo>
                    <a:pt x="51048" y="46037"/>
                    <a:pt x="53652" y="36090"/>
                    <a:pt x="58861" y="25524"/>
                  </a:cubicBezTo>
                  <a:cubicBezTo>
                    <a:pt x="64070" y="14957"/>
                    <a:pt x="70494" y="6449"/>
                    <a:pt x="78134" y="0"/>
                  </a:cubicBezTo>
                  <a:close/>
                  <a:moveTo>
                    <a:pt x="27086" y="0"/>
                  </a:moveTo>
                  <a:lnTo>
                    <a:pt x="47327" y="11757"/>
                  </a:lnTo>
                  <a:cubicBezTo>
                    <a:pt x="38794" y="25251"/>
                    <a:pt x="34379" y="38943"/>
                    <a:pt x="34081" y="52834"/>
                  </a:cubicBezTo>
                  <a:lnTo>
                    <a:pt x="34081" y="77688"/>
                  </a:lnTo>
                  <a:lnTo>
                    <a:pt x="0" y="77688"/>
                  </a:lnTo>
                  <a:lnTo>
                    <a:pt x="0" y="55364"/>
                  </a:lnTo>
                  <a:cubicBezTo>
                    <a:pt x="0" y="46037"/>
                    <a:pt x="2604" y="36090"/>
                    <a:pt x="7813" y="25524"/>
                  </a:cubicBezTo>
                  <a:cubicBezTo>
                    <a:pt x="13022" y="14957"/>
                    <a:pt x="19446" y="6449"/>
                    <a:pt x="27086" y="0"/>
                  </a:cubicBezTo>
                  <a:close/>
                </a:path>
              </a:pathLst>
            </a:custGeom>
            <a:solidFill>
              <a:srgbClr val="006E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40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768187A-8FDF-04A4-FE50-76292AC8F512}"/>
                </a:ext>
              </a:extLst>
            </p:cNvPr>
            <p:cNvGrpSpPr/>
            <p:nvPr userDrawn="1"/>
          </p:nvGrpSpPr>
          <p:grpSpPr>
            <a:xfrm>
              <a:off x="5285136" y="4310323"/>
              <a:ext cx="5311744" cy="404831"/>
              <a:chOff x="631856" y="3548776"/>
              <a:chExt cx="5311744" cy="404831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5D636EF-2D68-0C29-0004-980146B9F438}"/>
                  </a:ext>
                </a:extLst>
              </p:cNvPr>
              <p:cNvSpPr/>
              <p:nvPr/>
            </p:nvSpPr>
            <p:spPr>
              <a:xfrm>
                <a:off x="902168" y="3638136"/>
                <a:ext cx="5041432" cy="315471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D" sz="1600" b="1" dirty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UNLOCK YOUR POTENTIAL</a:t>
                </a:r>
              </a:p>
            </p:txBody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4FAB6002-AC9E-C436-D902-7F28A625870B}"/>
                  </a:ext>
                </a:extLst>
              </p:cNvPr>
              <p:cNvSpPr/>
              <p:nvPr/>
            </p:nvSpPr>
            <p:spPr>
              <a:xfrm rot="10800000" flipH="1" flipV="1">
                <a:off x="631856" y="3548776"/>
                <a:ext cx="298720" cy="235903"/>
              </a:xfrm>
              <a:custGeom>
                <a:avLst/>
                <a:gdLst/>
                <a:ahLst/>
                <a:cxnLst/>
                <a:rect l="l" t="t" r="r" b="b"/>
                <a:pathLst>
                  <a:path w="98375" h="77688">
                    <a:moveTo>
                      <a:pt x="78134" y="0"/>
                    </a:moveTo>
                    <a:lnTo>
                      <a:pt x="98375" y="11757"/>
                    </a:lnTo>
                    <a:cubicBezTo>
                      <a:pt x="89842" y="25251"/>
                      <a:pt x="85427" y="38943"/>
                      <a:pt x="85129" y="52834"/>
                    </a:cubicBezTo>
                    <a:lnTo>
                      <a:pt x="85129" y="77688"/>
                    </a:lnTo>
                    <a:lnTo>
                      <a:pt x="51048" y="77688"/>
                    </a:lnTo>
                    <a:lnTo>
                      <a:pt x="51048" y="55364"/>
                    </a:lnTo>
                    <a:cubicBezTo>
                      <a:pt x="51048" y="46037"/>
                      <a:pt x="53652" y="36090"/>
                      <a:pt x="58861" y="25524"/>
                    </a:cubicBezTo>
                    <a:cubicBezTo>
                      <a:pt x="64070" y="14957"/>
                      <a:pt x="70494" y="6449"/>
                      <a:pt x="78134" y="0"/>
                    </a:cubicBezTo>
                    <a:close/>
                    <a:moveTo>
                      <a:pt x="27086" y="0"/>
                    </a:moveTo>
                    <a:lnTo>
                      <a:pt x="47327" y="11757"/>
                    </a:lnTo>
                    <a:cubicBezTo>
                      <a:pt x="38794" y="25251"/>
                      <a:pt x="34379" y="38943"/>
                      <a:pt x="34081" y="52834"/>
                    </a:cubicBezTo>
                    <a:lnTo>
                      <a:pt x="34081" y="77688"/>
                    </a:lnTo>
                    <a:lnTo>
                      <a:pt x="0" y="77688"/>
                    </a:lnTo>
                    <a:lnTo>
                      <a:pt x="0" y="55364"/>
                    </a:lnTo>
                    <a:cubicBezTo>
                      <a:pt x="0" y="46037"/>
                      <a:pt x="2604" y="36090"/>
                      <a:pt x="7813" y="25524"/>
                    </a:cubicBezTo>
                    <a:cubicBezTo>
                      <a:pt x="13022" y="14957"/>
                      <a:pt x="19446" y="6449"/>
                      <a:pt x="2708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4E42A03-7CAB-5041-8E86-71804D5F4A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9553" y="98938"/>
            <a:ext cx="13716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94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 userDrawn="1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246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Freeform 56">
            <a:extLst>
              <a:ext uri="{FF2B5EF4-FFF2-40B4-BE49-F238E27FC236}">
                <a16:creationId xmlns:a16="http://schemas.microsoft.com/office/drawing/2014/main" id="{A88AFCD0-A68E-7040-94AE-0D1BA75F2DAC}"/>
              </a:ext>
            </a:extLst>
          </p:cNvPr>
          <p:cNvSpPr/>
          <p:nvPr userDrawn="1"/>
        </p:nvSpPr>
        <p:spPr>
          <a:xfrm>
            <a:off x="13749927" y="-138973"/>
            <a:ext cx="1236139" cy="4509700"/>
          </a:xfrm>
          <a:custGeom>
            <a:avLst/>
            <a:gdLst>
              <a:gd name="connsiteX0" fmla="*/ 0 w 1236138"/>
              <a:gd name="connsiteY0" fmla="*/ 0 h 4509697"/>
              <a:gd name="connsiteX1" fmla="*/ 1236138 w 1236138"/>
              <a:gd name="connsiteY1" fmla="*/ 0 h 4509697"/>
              <a:gd name="connsiteX2" fmla="*/ 1236138 w 1236138"/>
              <a:gd name="connsiteY2" fmla="*/ 4509697 h 4509697"/>
              <a:gd name="connsiteX3" fmla="*/ 0 w 1236138"/>
              <a:gd name="connsiteY3" fmla="*/ 3273558 h 450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6138" h="4509697">
                <a:moveTo>
                  <a:pt x="0" y="0"/>
                </a:moveTo>
                <a:lnTo>
                  <a:pt x="1236138" y="0"/>
                </a:lnTo>
                <a:lnTo>
                  <a:pt x="1236138" y="4509697"/>
                </a:lnTo>
                <a:lnTo>
                  <a:pt x="0" y="3273558"/>
                </a:lnTo>
                <a:close/>
              </a:path>
            </a:pathLst>
          </a:custGeom>
          <a:solidFill>
            <a:srgbClr val="006E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3" name="Freeform 48">
            <a:extLst>
              <a:ext uri="{FF2B5EF4-FFF2-40B4-BE49-F238E27FC236}">
                <a16:creationId xmlns:a16="http://schemas.microsoft.com/office/drawing/2014/main" id="{43477F39-1BBD-F526-40AC-2BC60882E79F}"/>
              </a:ext>
            </a:extLst>
          </p:cNvPr>
          <p:cNvSpPr/>
          <p:nvPr userDrawn="1"/>
        </p:nvSpPr>
        <p:spPr>
          <a:xfrm>
            <a:off x="13326852" y="1166085"/>
            <a:ext cx="2335701" cy="2335703"/>
          </a:xfrm>
          <a:custGeom>
            <a:avLst/>
            <a:gdLst>
              <a:gd name="connsiteX0" fmla="*/ 0 w 2335701"/>
              <a:gd name="connsiteY0" fmla="*/ 0 h 2335702"/>
              <a:gd name="connsiteX1" fmla="*/ 377708 w 2335701"/>
              <a:gd name="connsiteY1" fmla="*/ 0 h 2335702"/>
              <a:gd name="connsiteX2" fmla="*/ 2335701 w 2335701"/>
              <a:gd name="connsiteY2" fmla="*/ 1957994 h 2335702"/>
              <a:gd name="connsiteX3" fmla="*/ 2335701 w 2335701"/>
              <a:gd name="connsiteY3" fmla="*/ 2335702 h 2335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5701" h="2335702">
                <a:moveTo>
                  <a:pt x="0" y="0"/>
                </a:moveTo>
                <a:lnTo>
                  <a:pt x="377708" y="0"/>
                </a:lnTo>
                <a:lnTo>
                  <a:pt x="2335701" y="1957994"/>
                </a:lnTo>
                <a:lnTo>
                  <a:pt x="2335701" y="23357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sp>
        <p:nvSpPr>
          <p:cNvPr id="4" name="Freeform 53">
            <a:extLst>
              <a:ext uri="{FF2B5EF4-FFF2-40B4-BE49-F238E27FC236}">
                <a16:creationId xmlns:a16="http://schemas.microsoft.com/office/drawing/2014/main" id="{81B0EF1A-E1FD-FBF6-7FBC-E6508427A12F}"/>
              </a:ext>
            </a:extLst>
          </p:cNvPr>
          <p:cNvSpPr/>
          <p:nvPr userDrawn="1"/>
        </p:nvSpPr>
        <p:spPr>
          <a:xfrm>
            <a:off x="12547601" y="-1266391"/>
            <a:ext cx="1236139" cy="1608772"/>
          </a:xfrm>
          <a:custGeom>
            <a:avLst/>
            <a:gdLst>
              <a:gd name="connsiteX0" fmla="*/ 0 w 1236138"/>
              <a:gd name="connsiteY0" fmla="*/ 0 h 1608771"/>
              <a:gd name="connsiteX1" fmla="*/ 5076 w 1236138"/>
              <a:gd name="connsiteY1" fmla="*/ 0 h 1608771"/>
              <a:gd name="connsiteX2" fmla="*/ 1236138 w 1236138"/>
              <a:gd name="connsiteY2" fmla="*/ 1231063 h 1608771"/>
              <a:gd name="connsiteX3" fmla="*/ 1236138 w 1236138"/>
              <a:gd name="connsiteY3" fmla="*/ 1608771 h 1608771"/>
              <a:gd name="connsiteX4" fmla="*/ 0 w 1236138"/>
              <a:gd name="connsiteY4" fmla="*/ 372632 h 160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6138" h="1608771">
                <a:moveTo>
                  <a:pt x="0" y="0"/>
                </a:moveTo>
                <a:lnTo>
                  <a:pt x="5076" y="0"/>
                </a:lnTo>
                <a:lnTo>
                  <a:pt x="1236138" y="1231063"/>
                </a:lnTo>
                <a:lnTo>
                  <a:pt x="1236138" y="1608771"/>
                </a:lnTo>
                <a:lnTo>
                  <a:pt x="0" y="372632"/>
                </a:lnTo>
                <a:close/>
              </a:path>
            </a:pathLst>
          </a:custGeom>
          <a:solidFill>
            <a:srgbClr val="BE96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1377B5-6D47-6694-65A6-874DF1FD30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760" b="7353"/>
          <a:stretch/>
        </p:blipFill>
        <p:spPr>
          <a:xfrm>
            <a:off x="8503062" y="4065496"/>
            <a:ext cx="7159492" cy="425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 userDrawn="1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595867" y="3139633"/>
            <a:ext cx="11360800" cy="332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1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7" lvl="1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1" lvl="5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296612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63901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94BA-5D45-2846-9EC3-770DFE0E1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E97180-A75E-5249-A614-FBEDAC6F0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66108-FC60-9542-ACF1-C0CCE03D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6043D-85CB-0F46-8203-65F8DE5F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53177-CE91-A440-82F4-E1532547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61CB3-4EBA-5B43-B7FD-40AACB5B6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197D0-686E-054A-831F-F95C7E9CD7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F2F93-1561-8641-9BB2-2CD669BCE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DD35B-B1E8-A54B-B8AB-B74138268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8DF6D-9EF6-DB49-AD1D-6B830ABE6C0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DBF938AF-EA14-4C4A-85B9-52C0BA9647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62751" y="1152475"/>
            <a:ext cx="576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50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4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E689F2A-549A-DB45-8D22-E70CD59FC9D8}"/>
              </a:ext>
            </a:extLst>
          </p:cNvPr>
          <p:cNvSpPr/>
          <p:nvPr/>
        </p:nvSpPr>
        <p:spPr>
          <a:xfrm>
            <a:off x="2392499" y="2336843"/>
            <a:ext cx="2743380" cy="900246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006EB4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ReactJS</a:t>
            </a:r>
          </a:p>
        </p:txBody>
      </p:sp>
      <p:pic>
        <p:nvPicPr>
          <p:cNvPr id="2" name="Picture 2" descr="Mastering React.js Design Patterns: Building Scalable and Maintainable  Applications | by Seliesh Jacob | Stackademic">
            <a:extLst>
              <a:ext uri="{FF2B5EF4-FFF2-40B4-BE49-F238E27FC236}">
                <a16:creationId xmlns:a16="http://schemas.microsoft.com/office/drawing/2014/main" id="{960E5206-C28A-024B-AC9A-01BD2AF4C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739" y="1115044"/>
            <a:ext cx="4521062" cy="3019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C8FA48-213F-4E49-8D6B-3C2E4BF0CE30}"/>
              </a:ext>
            </a:extLst>
          </p:cNvPr>
          <p:cNvSpPr/>
          <p:nvPr/>
        </p:nvSpPr>
        <p:spPr>
          <a:xfrm>
            <a:off x="135831" y="4526563"/>
            <a:ext cx="2414765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dirty="0">
                <a:ln w="0"/>
                <a:solidFill>
                  <a:srgbClr val="006EB4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Prepared by: San Ratana</a:t>
            </a:r>
          </a:p>
        </p:txBody>
      </p:sp>
    </p:spTree>
    <p:extLst>
      <p:ext uri="{BB962C8B-B14F-4D97-AF65-F5344CB8AC3E}">
        <p14:creationId xmlns:p14="http://schemas.microsoft.com/office/powerpoint/2010/main" val="180482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876750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6141165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SPA (Single Page Application)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Web Application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ដែលមាន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Interaction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ខ្ពស់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តូចៗ អាចប្រើឡើងវិញបាន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គ្រប់គ្រង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Data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និង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Application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បានងាយស្រួល</a:t>
            </a:r>
          </a:p>
        </p:txBody>
      </p:sp>
    </p:spTree>
    <p:extLst>
      <p:ext uri="{BB962C8B-B14F-4D97-AF65-F5344CB8AC3E}">
        <p14:creationId xmlns:p14="http://schemas.microsoft.com/office/powerpoint/2010/main" val="1372513835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16817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Setup </a:t>
            </a:r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Reactjs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837637" y="2078427"/>
            <a:ext cx="6141165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200000"/>
              </a:lnSpc>
            </a:pPr>
            <a:r>
              <a:rPr lang="en-US" b="0" i="0" dirty="0">
                <a:effectLst/>
                <a:latin typeface="Geist Mono"/>
              </a:rPr>
              <a:t>- Create project</a:t>
            </a:r>
          </a:p>
          <a:p>
            <a:pPr algn="l" rtl="0">
              <a:lnSpc>
                <a:spcPct val="200000"/>
              </a:lnSpc>
            </a:pPr>
            <a:r>
              <a:rPr lang="en-US" b="0" i="0" dirty="0" err="1">
                <a:effectLst/>
                <a:highlight>
                  <a:srgbClr val="FFFF00"/>
                </a:highlight>
                <a:latin typeface="Geist Mono"/>
              </a:rPr>
              <a:t>npm</a:t>
            </a:r>
            <a:r>
              <a:rPr lang="en-US" b="0" i="0" dirty="0">
                <a:effectLst/>
                <a:highlight>
                  <a:srgbClr val="FFFF00"/>
                </a:highlight>
                <a:latin typeface="Geist Mono"/>
              </a:rPr>
              <a:t> create </a:t>
            </a:r>
            <a:r>
              <a:rPr lang="en-US" b="0" i="0" dirty="0" err="1">
                <a:effectLst/>
                <a:highlight>
                  <a:srgbClr val="FFFF00"/>
                </a:highlight>
                <a:latin typeface="Geist Mono"/>
              </a:rPr>
              <a:t>vite@latest</a:t>
            </a:r>
            <a:endParaRPr lang="en-US" b="0" i="0" dirty="0">
              <a:effectLst/>
              <a:highlight>
                <a:srgbClr val="FFFF00"/>
              </a:highlight>
              <a:latin typeface="Geist Mono"/>
            </a:endParaRPr>
          </a:p>
          <a:p>
            <a:pPr algn="l" rtl="0">
              <a:lnSpc>
                <a:spcPct val="200000"/>
              </a:lnSpc>
            </a:pPr>
            <a:r>
              <a:rPr lang="en-US" dirty="0">
                <a:latin typeface="Geist Mono"/>
              </a:rPr>
              <a:t>- Follow </a:t>
            </a:r>
            <a:r>
              <a:rPr lang="en-US" dirty="0" err="1">
                <a:latin typeface="Geist Mono"/>
              </a:rPr>
              <a:t>url</a:t>
            </a:r>
            <a:r>
              <a:rPr lang="en-US" dirty="0">
                <a:latin typeface="Geist Mono"/>
              </a:rPr>
              <a:t> for more setup detail</a:t>
            </a:r>
            <a:endParaRPr lang="en-US" b="0" i="0" dirty="0">
              <a:effectLst/>
              <a:latin typeface="Geist Mono"/>
            </a:endParaRPr>
          </a:p>
          <a:p>
            <a:pPr>
              <a:lnSpc>
                <a:spcPct val="200000"/>
              </a:lnSpc>
            </a:pPr>
            <a:r>
              <a:rPr lang="en-US" dirty="0"/>
              <a:t>https://</a:t>
            </a:r>
            <a:r>
              <a:rPr lang="en-US" dirty="0" err="1"/>
              <a:t>ui.shadcn.com</a:t>
            </a:r>
            <a:r>
              <a:rPr lang="en-US" dirty="0"/>
              <a:t>/docs/installation/</a:t>
            </a:r>
            <a:r>
              <a:rPr lang="en-US" dirty="0" err="1"/>
              <a:t>vite</a:t>
            </a:r>
            <a:br>
              <a:rPr lang="en-US" dirty="0"/>
            </a:br>
            <a:endParaRPr lang="en-US" b="0" i="0" dirty="0">
              <a:effectLst/>
              <a:latin typeface="Geist Mono"/>
            </a:endParaRPr>
          </a:p>
          <a:p>
            <a:pPr>
              <a:lnSpc>
                <a:spcPct val="200000"/>
              </a:lnSpc>
            </a:pPr>
            <a:br>
              <a:rPr lang="en-US" dirty="0"/>
            </a:br>
            <a:br>
              <a:rPr lang="en-US" dirty="0"/>
            </a:br>
            <a:endParaRPr lang="km-KH" b="1" dirty="0"/>
          </a:p>
        </p:txBody>
      </p:sp>
    </p:spTree>
    <p:extLst>
      <p:ext uri="{BB962C8B-B14F-4D97-AF65-F5344CB8AC3E}">
        <p14:creationId xmlns:p14="http://schemas.microsoft.com/office/powerpoint/2010/main" val="2593012845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943755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6997947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គឺជាផ្នែកតូចមួយនៃ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(User Interface)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វាស្រដៀងនឹង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មួយដែល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return JSX (HTML-like code)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App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ត្រូវបានបង្កើតពី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ច្រើនៗ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អាចប្រើឡើងវិញបាន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Reusable)</a:t>
            </a:r>
          </a:p>
        </p:txBody>
      </p:sp>
      <p:pic>
        <p:nvPicPr>
          <p:cNvPr id="1026" name="Picture 2" descr="React.js components">
            <a:extLst>
              <a:ext uri="{FF2B5EF4-FFF2-40B4-BE49-F238E27FC236}">
                <a16:creationId xmlns:a16="http://schemas.microsoft.com/office/drawing/2014/main" id="{034BB671-23B7-0E40-A15B-9A329039E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057" y="2178677"/>
            <a:ext cx="4747830" cy="369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03520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896143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JSX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6141165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stand for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xml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(JavaScript XML)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គឺជាវិធីសរសេរកូដដែលស្រដៀង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HTML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ត្រូវបានប្រើក្នុង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អនុញ្ញាតឱ្យយើងសរសេរ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HTML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 file</a:t>
            </a:r>
          </a:p>
        </p:txBody>
      </p:sp>
      <p:pic>
        <p:nvPicPr>
          <p:cNvPr id="5122" name="Picture 2" descr="What is JSX in React.js?">
            <a:extLst>
              <a:ext uri="{FF2B5EF4-FFF2-40B4-BE49-F238E27FC236}">
                <a16:creationId xmlns:a16="http://schemas.microsoft.com/office/drawing/2014/main" id="{BBC40CA4-44EE-E54F-890B-1B851F190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389" y="3898773"/>
            <a:ext cx="4770344" cy="188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123607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3409972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JSX Expression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971" y="2361984"/>
            <a:ext cx="7458029" cy="1685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Expression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 code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ដែលយើងដាក់នៅក្នុង { } 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វាអនុញ្ញាតឱ្យ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JavaScript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បាន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JSX Expression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ធ្វើឲ្យ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មានភាព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Dynamic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7577D0-DA55-534B-9F8D-5E8EEBBCAD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08" r="12962" b="-1508"/>
          <a:stretch/>
        </p:blipFill>
        <p:spPr>
          <a:xfrm>
            <a:off x="5871551" y="3429000"/>
            <a:ext cx="5477766" cy="240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10753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39749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Props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5" y="1770314"/>
            <a:ext cx="5293052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Props (Properties)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ទិន្នន័យដែលយើងផ្ញើពី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 ទៅ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មួយទៀត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Props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អនុញ្ញាតឱ្យ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ទទួលតម្លៃពីខាងក្រៅ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Props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ធ្វើឱ្យ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អាចប្រើឡើងវិញបាន</a:t>
            </a:r>
          </a:p>
        </p:txBody>
      </p:sp>
      <p:pic>
        <p:nvPicPr>
          <p:cNvPr id="4098" name="Picture 2" descr="Understanding React JS Components and Props | Medium">
            <a:extLst>
              <a:ext uri="{FF2B5EF4-FFF2-40B4-BE49-F238E27FC236}">
                <a16:creationId xmlns:a16="http://schemas.microsoft.com/office/drawing/2014/main" id="{42E430BF-A469-A142-BC31-105D302EA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099" y="1753642"/>
            <a:ext cx="4500376" cy="427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004596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4930196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Example 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43213-B6D3-F445-A985-C2BCF921D6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16" t="3801" r="4219" b="4078"/>
          <a:stretch/>
        </p:blipFill>
        <p:spPr>
          <a:xfrm>
            <a:off x="918359" y="1228987"/>
            <a:ext cx="4769922" cy="49105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2B5CFD-B430-4246-BA2B-69439091D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509" y="1228986"/>
            <a:ext cx="3887331" cy="49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26148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597827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Render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29524" y="1770314"/>
            <a:ext cx="5753710" cy="4178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m-KH" b="1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យើងប្រើ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map()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ដើម្បីបង្ហាញ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Array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ឬ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Element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ប្រើសម្រាប់បង្ហាញ: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Product List, Category List, User List, Menu List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ត្រូវការ 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key </a:t>
            </a:r>
            <a:r>
              <a:rPr lang="km-KH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ដើម្បីសម្គាល់ 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Element </a:t>
            </a:r>
            <a:r>
              <a:rPr lang="km-KH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នីមួយៗ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DAF082-92A1-C54B-BC3A-C942D168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954" y="1652749"/>
            <a:ext cx="5196522" cy="422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76156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369606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Event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381" y="1355572"/>
            <a:ext cx="6315619" cy="500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Event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ព្រឹត្តិការណ៍ដែលកើតឡើងពី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User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ឧទាហរណ៍: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Click, Change, Submit, Mouse Over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Event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ដើម្បីធ្វើឲ្យ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មាន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interaction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use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onClick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onChange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onSubmit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onMouseOver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fontAlgn="base">
              <a:lnSpc>
                <a:spcPct val="200000"/>
              </a:lnSpc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7170" name="Picture 2" descr="React Events - GeeksforGeeks">
            <a:extLst>
              <a:ext uri="{FF2B5EF4-FFF2-40B4-BE49-F238E27FC236}">
                <a16:creationId xmlns:a16="http://schemas.microsoft.com/office/drawing/2014/main" id="{C2963E2F-A297-3142-82FD-1337EF43F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060" y="2844920"/>
            <a:ext cx="5132250" cy="256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25975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535036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Hooks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612049" y="1386049"/>
            <a:ext cx="6255282" cy="556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Hooks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ពិសេសនៅក្នុង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Hooks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អនុញ្ញាតឲ្យ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Functional 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(State, Lifecycle, side effects</a:t>
            </a: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គ្រប់គ្រង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និង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Effect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ងាយស្រួល</a:t>
            </a: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Commons use: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useState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useEffect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useContext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useRef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,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useMemo</a:t>
            </a: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1026" name="Picture 2" descr="How to understand a component's lifecycle methods in ReactJS">
            <a:extLst>
              <a:ext uri="{FF2B5EF4-FFF2-40B4-BE49-F238E27FC236}">
                <a16:creationId xmlns:a16="http://schemas.microsoft.com/office/drawing/2014/main" id="{BB355D93-F8F0-F044-B4FE-3E1AD8412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448" y="3648268"/>
            <a:ext cx="3650614" cy="236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18672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307409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State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381" y="1107375"/>
            <a:ext cx="6315619" cy="5009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ទិន្នន័យដែលអាចផ្លាស់ប្តូរ បាននៅក្នុង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គ្រប់គ្រង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behavior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និង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នៅពេល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ផ្លាស់ប្តូរ →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នឹង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Render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ម្តងទៀត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Re-render)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 </a:t>
            </a: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useState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ដើម្បីបង្កើត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State</a:t>
            </a:r>
          </a:p>
          <a:p>
            <a:pPr fontAlgn="base">
              <a:lnSpc>
                <a:spcPct val="200000"/>
              </a:lnSpc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0B926D-E610-9941-BB26-EF4F7A118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765" y="2833010"/>
            <a:ext cx="5111931" cy="3273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B51986-2794-4448-87AE-A087F25BD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827" y="4593410"/>
            <a:ext cx="2049653" cy="151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0951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24099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useEffect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381" y="1478466"/>
            <a:ext cx="6912156" cy="390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Khmer OS Siemreap" panose="02000500000000020004" pitchFamily="2" charset="77"/>
                <a:cs typeface="Khmer OS Siemreap" panose="02000500000000020004" pitchFamily="2" charset="77"/>
              </a:rPr>
              <a:t>useEffect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Hook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មួយក្នុង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ប្រើសម្រាប់ដំណើរការ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Side Effect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Side Effect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ការងារដែលកើតឡើងក្រៅ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E.g. Fetch API, Call Database, Set Timeout, Add event Listener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1026" name="Picture 2" descr="React useEffect: The Side Effect Awakens | by PavanBhakta | JavaScript in  Plain English">
            <a:extLst>
              <a:ext uri="{FF2B5EF4-FFF2-40B4-BE49-F238E27FC236}">
                <a16:creationId xmlns:a16="http://schemas.microsoft.com/office/drawing/2014/main" id="{843CA2EF-119D-1C4A-9F20-18B7C9A7E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607" y="2695303"/>
            <a:ext cx="3211012" cy="321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249225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24099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 err="1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useEffect</a:t>
            </a:r>
            <a:endParaRPr lang="en-US" sz="3600" b="1" dirty="0">
              <a:ln w="0"/>
              <a:solidFill>
                <a:schemeClr val="bg1"/>
              </a:solidFill>
              <a:latin typeface="Aptos Black" panose="020B0004020202020204" pitchFamily="34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436755" y="1201467"/>
            <a:ext cx="6912156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Syntax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Dependency array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[] 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run once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[count] </a:t>
            </a:r>
            <a:r>
              <a:rPr lang="en-US" dirty="0">
                <a:highlight>
                  <a:srgbClr val="FFFF00"/>
                </a:highlight>
                <a:latin typeface="Khmer OS Siemreap" panose="02000500000000020004" pitchFamily="2" charset="77"/>
                <a:cs typeface="Khmer OS Siemreap" panose="02000500000000020004" pitchFamily="2" charset="77"/>
              </a:rPr>
              <a:t>run when count change</a:t>
            </a:r>
            <a:b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</a:b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fontAlgn="base">
              <a:lnSpc>
                <a:spcPct val="200000"/>
              </a:lnSpc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FF5655-077F-794C-9A65-6EA979E94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538" y="1533536"/>
            <a:ext cx="3795984" cy="3194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7C2960-54C7-144B-B372-E756B8142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78" y="4452450"/>
            <a:ext cx="3136900" cy="152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6D6D53-A168-BB4C-854E-1D3969889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797" y="2994678"/>
            <a:ext cx="3529092" cy="310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032321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286007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React router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410424" y="1244290"/>
            <a:ext cx="6912156" cy="390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React Router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Library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សម្រាប់គ្រប់គ្រង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Navigation (Routing)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Dynamic router (product/:id)</a:t>
            </a: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Reload Page (Single Page Application - SPA)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npm</a:t>
            </a:r>
            <a:r>
              <a:rPr lang="en-US" dirty="0"/>
              <a:t> install react-router-</a:t>
            </a:r>
            <a:r>
              <a:rPr lang="en-US" dirty="0" err="1"/>
              <a:t>dom</a:t>
            </a:r>
            <a:endParaRPr lang="en-US" dirty="0"/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533592-8DBE-FB44-84DD-75F5A5C99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792" y="2185637"/>
            <a:ext cx="5071784" cy="3799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48BE81-C800-914B-863F-0A59B6CB3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833" y="4032657"/>
            <a:ext cx="3231413" cy="19521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1E928E-33BC-D442-A66A-D77E85FF9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75" y="4595501"/>
            <a:ext cx="2876085" cy="138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31183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60774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Layout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F93DB-4AAC-744F-A782-D9199C8D228F}"/>
              </a:ext>
            </a:extLst>
          </p:cNvPr>
          <p:cNvSpPr txBox="1"/>
          <p:nvPr/>
        </p:nvSpPr>
        <p:spPr>
          <a:xfrm>
            <a:off x="542381" y="1478466"/>
            <a:ext cx="6912156" cy="334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Layout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គឺជា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Component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មួយ ដែលប្រើសម្រាប់រៀបចំរចនាសម្ព័ន្ធ (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Structure)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ទូទៅនៃ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Website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ដូចជា៖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Header, Navbar, Sidebar, Footer, Content Area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វាធ្វើឲ្យ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UI </a:t>
            </a:r>
            <a:r>
              <a:rPr lang="km-KH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មានស្តង់ដារ ដូចគ្នាទាំងអស់នៅគ្រប់ </a:t>
            </a:r>
            <a:r>
              <a:rPr lang="en-US" dirty="0">
                <a:latin typeface="Khmer OS Siemreap" panose="02000500000000020004" pitchFamily="2" charset="77"/>
                <a:cs typeface="Khmer OS Siemreap" panose="02000500000000020004" pitchFamily="2" charset="77"/>
              </a:rPr>
              <a:t>Page</a:t>
            </a: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km-KH" dirty="0">
              <a:latin typeface="Khmer OS Siemreap" panose="02000500000000020004" pitchFamily="2" charset="77"/>
              <a:cs typeface="Khmer OS Siemreap" panose="02000500000000020004" pitchFamily="2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EFA64-8D7F-D64A-A764-2833CF8AC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055" y="2899954"/>
            <a:ext cx="5687564" cy="305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86641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0A2E2D-06D8-6848-830A-2F9FCD88CE1A}"/>
              </a:ext>
            </a:extLst>
          </p:cNvPr>
          <p:cNvSpPr/>
          <p:nvPr/>
        </p:nvSpPr>
        <p:spPr>
          <a:xfrm>
            <a:off x="436755" y="260705"/>
            <a:ext cx="1607748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Layout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0D6887-087D-C947-B8CD-577D5CE964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40" t="9275" r="6966" b="9197"/>
          <a:stretch/>
        </p:blipFill>
        <p:spPr>
          <a:xfrm>
            <a:off x="436755" y="1976846"/>
            <a:ext cx="5320937" cy="34535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B14A52-148E-3646-8008-68A6B60D1D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11" t="12542" r="11354" b="12339"/>
          <a:stretch/>
        </p:blipFill>
        <p:spPr>
          <a:xfrm>
            <a:off x="6313715" y="1889759"/>
            <a:ext cx="3953691" cy="345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402496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EC3732-F759-6248-98DE-FFF98CBC3BAC}"/>
              </a:ext>
            </a:extLst>
          </p:cNvPr>
          <p:cNvSpPr/>
          <p:nvPr/>
        </p:nvSpPr>
        <p:spPr>
          <a:xfrm>
            <a:off x="5074069" y="2061169"/>
            <a:ext cx="239200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lang="en-US" sz="3600" b="1" dirty="0">
                <a:ln w="0"/>
                <a:solidFill>
                  <a:schemeClr val="bg1"/>
                </a:solidFill>
                <a:latin typeface="Aptos Black" panose="020B0004020202020204" pitchFamily="34" charset="0"/>
                <a:ea typeface="Roboto" panose="02000000000000000000" pitchFamily="2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D83D9-C47A-C84F-95AA-D7218E1698A9}"/>
              </a:ext>
            </a:extLst>
          </p:cNvPr>
          <p:cNvSpPr txBox="1"/>
          <p:nvPr/>
        </p:nvSpPr>
        <p:spPr>
          <a:xfrm>
            <a:off x="1265273" y="3162124"/>
            <a:ext cx="1049433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</a:t>
            </a:r>
            <a:endParaRPr lang="en-US" sz="2400" dirty="0">
              <a:solidFill>
                <a:schemeClr val="bg1"/>
              </a:solidFill>
              <a:latin typeface="Khmer OS Siemreap" panose="02000500000000020004" pitchFamily="2" charset="77"/>
              <a:cs typeface="Khmer OS Siemreap" panose="02000500000000020004" pitchFamily="2" charset="7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https://</a:t>
            </a:r>
            <a:r>
              <a:rPr lang="en-US" sz="2400" dirty="0" err="1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www.youtube.com</a:t>
            </a: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/</a:t>
            </a:r>
            <a:r>
              <a:rPr lang="en-US" sz="2400" dirty="0" err="1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watch?v</a:t>
            </a:r>
            <a:r>
              <a:rPr lang="en-US" sz="2400" dirty="0">
                <a:solidFill>
                  <a:schemeClr val="bg1"/>
                </a:solidFill>
                <a:latin typeface="Khmer OS Siemreap" panose="02000500000000020004" pitchFamily="2" charset="77"/>
                <a:cs typeface="Khmer OS Siemreap" panose="02000500000000020004" pitchFamily="2" charset="77"/>
              </a:rPr>
              <a:t>=SqcY0GlETPk</a:t>
            </a:r>
          </a:p>
        </p:txBody>
      </p:sp>
    </p:spTree>
    <p:extLst>
      <p:ext uri="{BB962C8B-B14F-4D97-AF65-F5344CB8AC3E}">
        <p14:creationId xmlns:p14="http://schemas.microsoft.com/office/powerpoint/2010/main" val="2818962816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Q&amp;A Images – Browse 228,851 Stock Photos, Vectors, and Video | Adobe Stock">
            <a:extLst>
              <a:ext uri="{FF2B5EF4-FFF2-40B4-BE49-F238E27FC236}">
                <a16:creationId xmlns:a16="http://schemas.microsoft.com/office/drawing/2014/main" id="{11FE7E59-125F-6C4B-B8BF-31BD6CEBA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556" y="1647884"/>
            <a:ext cx="5086074" cy="356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00839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123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4449</TotalTime>
  <Words>560</Words>
  <Application>Microsoft Office PowerPoint</Application>
  <PresentationFormat>Widescreen</PresentationFormat>
  <Paragraphs>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Geist Mono</vt:lpstr>
      <vt:lpstr>Aptos Black</vt:lpstr>
      <vt:lpstr>Arial</vt:lpstr>
      <vt:lpstr>Calibri</vt:lpstr>
      <vt:lpstr>Khmer OS Siemreap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EM Seyha</cp:lastModifiedBy>
  <cp:revision>39</cp:revision>
  <dcterms:created xsi:type="dcterms:W3CDTF">2025-10-06T13:45:52Z</dcterms:created>
  <dcterms:modified xsi:type="dcterms:W3CDTF">2026-03-16T14:15:06Z</dcterms:modified>
</cp:coreProperties>
</file>